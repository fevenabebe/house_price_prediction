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12192000"/>
  <p:embeddedFontLs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ijKzD0QkKw2p25cdIYE3QdnQew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2C8AE6-1140-4E10-B22F-B4D3AC9BE55D}">
  <a:tblStyle styleId="{9D2C8AE6-1140-4E10-B22F-B4D3AC9BE55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6354b629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f6354b629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f6354b629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E4F"/>
        </a:solidFill>
      </p:bgPr>
    </p:bg>
    <p:spTree>
      <p:nvGrpSpPr>
        <p:cNvPr id="15" name="Shape 15"/>
        <p:cNvGrpSpPr/>
        <p:nvPr/>
      </p:nvGrpSpPr>
      <p:grpSpPr>
        <a:xfrm>
          <a:off x="0" y="0"/>
          <a:ext cx="0" cy="0"/>
          <a:chOff x="0" y="0"/>
          <a:chExt cx="0" cy="0"/>
        </a:xfrm>
      </p:grpSpPr>
      <p:sp>
        <p:nvSpPr>
          <p:cNvPr id="16" name="Google Shape;16;p1"/>
          <p:cNvSpPr/>
          <p:nvPr/>
        </p:nvSpPr>
        <p:spPr>
          <a:xfrm>
            <a:off x="0" y="0"/>
            <a:ext cx="12188952" cy="6858000"/>
          </a:xfrm>
          <a:prstGeom prst="rect">
            <a:avLst/>
          </a:prstGeom>
          <a:solidFill>
            <a:srgbClr val="0B2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863840" y="0"/>
            <a:ext cx="4325112" cy="6858000"/>
          </a:xfrm>
          <a:prstGeom prst="rect">
            <a:avLst/>
          </a:prstGeom>
          <a:solidFill>
            <a:srgbClr val="133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138160" y="822960"/>
            <a:ext cx="3291840" cy="3291840"/>
          </a:xfrm>
          <a:prstGeom prst="ellipse">
            <a:avLst/>
          </a:prstGeom>
          <a:solidFill>
            <a:srgbClr val="1C7293">
              <a:alpha val="30196"/>
            </a:srgbClr>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t/>
            </a:r>
            <a:endParaRPr/>
          </a:p>
          <a:p>
            <a:pPr indent="0" lvl="0" marL="0" rtl="0" algn="l">
              <a:spcBef>
                <a:spcPts val="0"/>
              </a:spcBef>
              <a:spcAft>
                <a:spcPts val="0"/>
              </a:spcAft>
              <a:buNone/>
            </a:pPr>
            <a:r>
              <a:t/>
            </a:r>
            <a:endParaRPr b="1" sz="1200">
              <a:solidFill>
                <a:srgbClr val="31333F"/>
              </a:solidFill>
              <a:highlight>
                <a:srgbClr val="FFFFFF"/>
              </a:highlight>
            </a:endParaRPr>
          </a:p>
          <a:p>
            <a:pPr indent="0" lvl="0" marL="914400" rtl="0" algn="l">
              <a:spcBef>
                <a:spcPts val="0"/>
              </a:spcBef>
              <a:spcAft>
                <a:spcPts val="0"/>
              </a:spcAft>
              <a:buNone/>
            </a:pPr>
            <a:r>
              <a:t/>
            </a:r>
            <a:endParaRPr b="1" sz="1200">
              <a:solidFill>
                <a:srgbClr val="31333F"/>
              </a:solidFill>
              <a:highlight>
                <a:srgbClr val="FFFFFF"/>
              </a:highlight>
            </a:endParaRPr>
          </a:p>
          <a:p>
            <a:pPr indent="0" lvl="0" marL="914400" rtl="0" algn="l">
              <a:spcBef>
                <a:spcPts val="0"/>
              </a:spcBef>
              <a:spcAft>
                <a:spcPts val="0"/>
              </a:spcAft>
              <a:buNone/>
            </a:pPr>
            <a:r>
              <a:t/>
            </a:r>
            <a:endParaRPr b="1" sz="1200">
              <a:solidFill>
                <a:srgbClr val="31333F"/>
              </a:solidFill>
              <a:highlight>
                <a:srgbClr val="FFFFFF"/>
              </a:highlight>
            </a:endParaRPr>
          </a:p>
          <a:p>
            <a:pPr indent="0" lvl="0" marL="914400" rtl="0" algn="l">
              <a:spcBef>
                <a:spcPts val="0"/>
              </a:spcBef>
              <a:spcAft>
                <a:spcPts val="0"/>
              </a:spcAft>
              <a:buNone/>
            </a:pPr>
            <a:r>
              <a:t/>
            </a:r>
            <a:endParaRPr b="1" sz="1200">
              <a:solidFill>
                <a:srgbClr val="31333F"/>
              </a:solidFill>
              <a:highlight>
                <a:srgbClr val="FFFFFF"/>
              </a:highlight>
            </a:endParaRPr>
          </a:p>
          <a:p>
            <a:pPr indent="0" lvl="0" marL="457200" rtl="0" algn="l">
              <a:spcBef>
                <a:spcPts val="0"/>
              </a:spcBef>
              <a:spcAft>
                <a:spcPts val="0"/>
              </a:spcAft>
              <a:buNone/>
            </a:pPr>
            <a:r>
              <a:t/>
            </a:r>
            <a:endParaRPr b="1" sz="1300">
              <a:solidFill>
                <a:srgbClr val="FFFFFF"/>
              </a:solidFill>
              <a:latin typeface="Calibri"/>
              <a:ea typeface="Calibri"/>
              <a:cs typeface="Calibri"/>
              <a:sym typeface="Calibri"/>
            </a:endParaRPr>
          </a:p>
          <a:p>
            <a:pPr indent="0" lvl="0" marL="457200" rtl="0" algn="l">
              <a:spcBef>
                <a:spcPts val="0"/>
              </a:spcBef>
              <a:spcAft>
                <a:spcPts val="0"/>
              </a:spcAft>
              <a:buNone/>
            </a:pPr>
            <a:r>
              <a:t/>
            </a:r>
            <a:endParaRPr b="1" sz="1300">
              <a:solidFill>
                <a:srgbClr val="FFFFFF"/>
              </a:solidFill>
              <a:latin typeface="Calibri"/>
              <a:ea typeface="Calibri"/>
              <a:cs typeface="Calibri"/>
              <a:sym typeface="Calibri"/>
            </a:endParaRPr>
          </a:p>
          <a:p>
            <a:pPr indent="0" lvl="0" marL="45720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Feven Abebe</a:t>
            </a:r>
            <a:endParaRPr sz="1300">
              <a:solidFill>
                <a:schemeClr val="dk1"/>
              </a:solidFill>
              <a:latin typeface="Calibri"/>
              <a:ea typeface="Calibri"/>
              <a:cs typeface="Calibri"/>
              <a:sym typeface="Calibri"/>
            </a:endParaRPr>
          </a:p>
          <a:p>
            <a:pPr indent="0" lvl="0" marL="457200" rtl="0" algn="l">
              <a:spcBef>
                <a:spcPts val="0"/>
              </a:spcBef>
              <a:spcAft>
                <a:spcPts val="0"/>
              </a:spcAft>
              <a:buNone/>
            </a:pPr>
            <a:r>
              <a:t/>
            </a:r>
            <a:endParaRPr b="1" sz="1200">
              <a:solidFill>
                <a:srgbClr val="31333F"/>
              </a:solidFill>
              <a:highlight>
                <a:srgbClr val="FFFFFF"/>
              </a:highlight>
            </a:endParaRPr>
          </a:p>
          <a:p>
            <a:pPr indent="0" lvl="0" marL="457200" rtl="0" algn="l">
              <a:spcBef>
                <a:spcPts val="0"/>
              </a:spcBef>
              <a:spcAft>
                <a:spcPts val="0"/>
              </a:spcAft>
              <a:buNone/>
            </a:pPr>
            <a:r>
              <a:rPr b="1" lang="en-US" sz="1300">
                <a:solidFill>
                  <a:srgbClr val="FFFFFF"/>
                </a:solidFill>
                <a:latin typeface="Calibri"/>
                <a:ea typeface="Calibri"/>
                <a:cs typeface="Calibri"/>
                <a:sym typeface="Calibri"/>
              </a:rPr>
              <a:t>Hailemichael</a:t>
            </a:r>
            <a:r>
              <a:rPr b="1" lang="en-US" sz="1300">
                <a:solidFill>
                  <a:srgbClr val="FFFFFF"/>
                </a:solidFill>
                <a:latin typeface="Calibri"/>
                <a:ea typeface="Calibri"/>
                <a:cs typeface="Calibri"/>
                <a:sym typeface="Calibri"/>
              </a:rPr>
              <a:t> Melese</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b="1" lang="en-US" sz="1300">
                <a:solidFill>
                  <a:srgbClr val="FFFFFF"/>
                </a:solidFill>
                <a:latin typeface="Calibri"/>
                <a:ea typeface="Calibri"/>
                <a:cs typeface="Calibri"/>
                <a:sym typeface="Calibri"/>
              </a:rPr>
              <a:t>Surafel Solomon</a:t>
            </a:r>
            <a:endParaRPr sz="1300">
              <a:solidFill>
                <a:schemeClr val="dk1"/>
              </a:solidFill>
              <a:latin typeface="Calibri"/>
              <a:ea typeface="Calibri"/>
              <a:cs typeface="Calibri"/>
              <a:sym typeface="Calibri"/>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p>
        </p:txBody>
      </p:sp>
      <p:sp>
        <p:nvSpPr>
          <p:cNvPr id="19" name="Google Shape;19;p1"/>
          <p:cNvSpPr/>
          <p:nvPr/>
        </p:nvSpPr>
        <p:spPr>
          <a:xfrm>
            <a:off x="9509760" y="3931920"/>
            <a:ext cx="2377440" cy="2377440"/>
          </a:xfrm>
          <a:prstGeom prst="ellipse">
            <a:avLst/>
          </a:prstGeom>
          <a:solidFill>
            <a:srgbClr val="E8871E">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a:t>
            </a:r>
            <a:r>
              <a:rPr b="1" lang="en-US" sz="1900">
                <a:solidFill>
                  <a:srgbClr val="FFFFFF"/>
                </a:solidFill>
                <a:latin typeface="Calibri"/>
                <a:ea typeface="Calibri"/>
                <a:cs typeface="Calibri"/>
                <a:sym typeface="Calibri"/>
              </a:rPr>
              <a:t> Group 1</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20" name="Google Shape;20;p1"/>
          <p:cNvSpPr/>
          <p:nvPr/>
        </p:nvSpPr>
        <p:spPr>
          <a:xfrm>
            <a:off x="640080" y="12344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300"/>
              <a:buFont typeface="Calibri"/>
              <a:buNone/>
            </a:pPr>
            <a:r>
              <a:rPr b="1" i="0" lang="en-US" sz="1300" u="none" cap="none" strike="noStrike">
                <a:solidFill>
                  <a:srgbClr val="E8871E"/>
                </a:solidFill>
                <a:latin typeface="Calibri"/>
                <a:ea typeface="Calibri"/>
                <a:cs typeface="Calibri"/>
                <a:sym typeface="Calibri"/>
              </a:rPr>
              <a:t>MACHINE LEARNING · TECHNICAL REPORT </a:t>
            </a:r>
            <a:r>
              <a:rPr b="1" lang="en-US" sz="1300">
                <a:solidFill>
                  <a:srgbClr val="E8871E"/>
                </a:solidFill>
                <a:latin typeface="Calibri"/>
                <a:ea typeface="Calibri"/>
                <a:cs typeface="Calibri"/>
                <a:sym typeface="Calibri"/>
              </a:rPr>
              <a:t>PRESENTATION</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594360" y="1600200"/>
            <a:ext cx="713232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House Price Prediction</a:t>
            </a:r>
            <a:endParaRPr b="0" i="0" sz="4400" u="none" cap="none" strike="noStrike">
              <a:solidFill>
                <a:schemeClr val="dk1"/>
              </a:solidFill>
              <a:latin typeface="Calibri"/>
              <a:ea typeface="Calibri"/>
              <a:cs typeface="Calibri"/>
              <a:sym typeface="Calibri"/>
            </a:endParaRPr>
          </a:p>
        </p:txBody>
      </p:sp>
      <p:sp>
        <p:nvSpPr>
          <p:cNvPr id="22" name="Google Shape;22;p1"/>
          <p:cNvSpPr/>
          <p:nvPr/>
        </p:nvSpPr>
        <p:spPr>
          <a:xfrm>
            <a:off x="640080" y="2606040"/>
            <a:ext cx="69494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EF"/>
              </a:buClr>
              <a:buSzPts val="1900"/>
              <a:buFont typeface="Calibri"/>
              <a:buNone/>
            </a:pPr>
            <a:r>
              <a:rPr b="0" i="0" lang="en-US" sz="1900" u="none" cap="none" strike="noStrike">
                <a:solidFill>
                  <a:srgbClr val="CFE3EF"/>
                </a:solidFill>
                <a:latin typeface="Calibri"/>
                <a:ea typeface="Calibri"/>
                <a:cs typeface="Calibri"/>
                <a:sym typeface="Calibri"/>
              </a:rPr>
              <a:t>Using Machine Learning Regression Models</a:t>
            </a:r>
            <a:endParaRPr b="0" i="0" sz="1900" u="none" cap="none" strike="noStrike">
              <a:solidFill>
                <a:schemeClr val="dk1"/>
              </a:solidFill>
              <a:latin typeface="Calibri"/>
              <a:ea typeface="Calibri"/>
              <a:cs typeface="Calibri"/>
              <a:sym typeface="Calibri"/>
            </a:endParaRPr>
          </a:p>
        </p:txBody>
      </p:sp>
      <p:sp>
        <p:nvSpPr>
          <p:cNvPr id="23" name="Google Shape;23;p1"/>
          <p:cNvSpPr/>
          <p:nvPr/>
        </p:nvSpPr>
        <p:spPr>
          <a:xfrm>
            <a:off x="640080" y="3246120"/>
            <a:ext cx="67665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6DF"/>
              </a:buClr>
              <a:buSzPts val="1300"/>
              <a:buFont typeface="Calibri"/>
              <a:buNone/>
            </a:pPr>
            <a:r>
              <a:rPr b="0" i="0" lang="en-US" sz="1300" u="none" cap="none" strike="noStrike">
                <a:solidFill>
                  <a:srgbClr val="C9D6DF"/>
                </a:solidFill>
                <a:latin typeface="Calibri"/>
                <a:ea typeface="Calibri"/>
                <a:cs typeface="Calibri"/>
                <a:sym typeface="Calibri"/>
              </a:rPr>
              <a:t>An end-to-end regression pipeline on the Ames Housing Dataset — from data cleaning and feature engineering to explainable AI and Streamlit deployment.</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640080" y="4343400"/>
            <a:ext cx="18288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2600"/>
              <a:buFont typeface="Cambria"/>
              <a:buNone/>
            </a:pPr>
            <a:r>
              <a:rPr b="1" i="0" lang="en-US" sz="2600" u="none" cap="none" strike="noStrike">
                <a:solidFill>
                  <a:srgbClr val="E8871E"/>
                </a:solidFill>
                <a:latin typeface="Cambria"/>
                <a:ea typeface="Cambria"/>
                <a:cs typeface="Cambria"/>
                <a:sym typeface="Cambria"/>
              </a:rPr>
              <a:t>1,460</a:t>
            </a:r>
            <a:endParaRPr b="0" i="0" sz="2600" u="none" cap="none" strike="noStrike">
              <a:solidFill>
                <a:schemeClr val="dk1"/>
              </a:solidFill>
              <a:latin typeface="Calibri"/>
              <a:ea typeface="Calibri"/>
              <a:cs typeface="Calibri"/>
              <a:sym typeface="Calibri"/>
            </a:endParaRPr>
          </a:p>
        </p:txBody>
      </p:sp>
      <p:sp>
        <p:nvSpPr>
          <p:cNvPr id="25" name="Google Shape;25;p1"/>
          <p:cNvSpPr/>
          <p:nvPr/>
        </p:nvSpPr>
        <p:spPr>
          <a:xfrm>
            <a:off x="640080" y="4828032"/>
            <a:ext cx="1828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EF"/>
              </a:buClr>
              <a:buSzPts val="1200"/>
              <a:buFont typeface="Calibri"/>
              <a:buNone/>
            </a:pPr>
            <a:r>
              <a:rPr b="0" i="0" lang="en-US" sz="1200" u="none" cap="none" strike="noStrike">
                <a:solidFill>
                  <a:srgbClr val="CFE3EF"/>
                </a:solidFill>
                <a:latin typeface="Calibri"/>
                <a:ea typeface="Calibri"/>
                <a:cs typeface="Calibri"/>
                <a:sym typeface="Calibri"/>
              </a:rPr>
              <a:t>Samples</a:t>
            </a:r>
            <a:endParaRPr b="0" i="0" sz="1200" u="none" cap="none" strike="noStrike">
              <a:solidFill>
                <a:schemeClr val="dk1"/>
              </a:solidFill>
              <a:latin typeface="Calibri"/>
              <a:ea typeface="Calibri"/>
              <a:cs typeface="Calibri"/>
              <a:sym typeface="Calibri"/>
            </a:endParaRPr>
          </a:p>
        </p:txBody>
      </p:sp>
      <p:sp>
        <p:nvSpPr>
          <p:cNvPr id="26" name="Google Shape;26;p1"/>
          <p:cNvSpPr/>
          <p:nvPr/>
        </p:nvSpPr>
        <p:spPr>
          <a:xfrm>
            <a:off x="2606040" y="4343400"/>
            <a:ext cx="18288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2600"/>
              <a:buFont typeface="Cambria"/>
              <a:buNone/>
            </a:pPr>
            <a:r>
              <a:rPr b="1" i="0" lang="en-US" sz="2600" u="none" cap="none" strike="noStrike">
                <a:solidFill>
                  <a:srgbClr val="E8871E"/>
                </a:solidFill>
                <a:latin typeface="Cambria"/>
                <a:ea typeface="Cambria"/>
                <a:cs typeface="Cambria"/>
                <a:sym typeface="Cambria"/>
              </a:rPr>
              <a:t>8</a:t>
            </a:r>
            <a:r>
              <a:rPr b="1" lang="en-US" sz="2600">
                <a:solidFill>
                  <a:srgbClr val="E8871E"/>
                </a:solidFill>
                <a:latin typeface="Cambria"/>
                <a:ea typeface="Cambria"/>
                <a:cs typeface="Cambria"/>
                <a:sym typeface="Cambria"/>
              </a:rPr>
              <a:t>0</a:t>
            </a:r>
            <a:endParaRPr b="0" i="0" sz="2600" u="none" cap="none" strike="noStrike">
              <a:solidFill>
                <a:schemeClr val="dk1"/>
              </a:solidFill>
              <a:latin typeface="Calibri"/>
              <a:ea typeface="Calibri"/>
              <a:cs typeface="Calibri"/>
              <a:sym typeface="Calibri"/>
            </a:endParaRPr>
          </a:p>
        </p:txBody>
      </p:sp>
      <p:sp>
        <p:nvSpPr>
          <p:cNvPr id="27" name="Google Shape;27;p1"/>
          <p:cNvSpPr/>
          <p:nvPr/>
        </p:nvSpPr>
        <p:spPr>
          <a:xfrm>
            <a:off x="2606040" y="4828032"/>
            <a:ext cx="1828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EF"/>
              </a:buClr>
              <a:buSzPts val="1200"/>
              <a:buFont typeface="Calibri"/>
              <a:buNone/>
            </a:pPr>
            <a:r>
              <a:rPr b="0" i="0" lang="en-US" sz="1200" u="none" cap="none" strike="noStrike">
                <a:solidFill>
                  <a:srgbClr val="CFE3EF"/>
                </a:solidFill>
                <a:latin typeface="Calibri"/>
                <a:ea typeface="Calibri"/>
                <a:cs typeface="Calibri"/>
                <a:sym typeface="Calibri"/>
              </a:rPr>
              <a:t>Features</a:t>
            </a:r>
            <a:endParaRPr b="0" i="0" sz="1200" u="none" cap="none" strike="noStrike">
              <a:solidFill>
                <a:schemeClr val="dk1"/>
              </a:solidFill>
              <a:latin typeface="Calibri"/>
              <a:ea typeface="Calibri"/>
              <a:cs typeface="Calibri"/>
              <a:sym typeface="Calibri"/>
            </a:endParaRPr>
          </a:p>
        </p:txBody>
      </p:sp>
      <p:sp>
        <p:nvSpPr>
          <p:cNvPr id="28" name="Google Shape;28;p1"/>
          <p:cNvSpPr/>
          <p:nvPr/>
        </p:nvSpPr>
        <p:spPr>
          <a:xfrm>
            <a:off x="8572505" y="1676408"/>
            <a:ext cx="36576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Prepared by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2"/>
          <p:cNvSpPr/>
          <p:nvPr/>
        </p:nvSpPr>
        <p:spPr>
          <a:xfrm>
            <a:off x="550165" y="384035"/>
            <a:ext cx="11091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Introduction &amp; Problem Statement</a:t>
            </a:r>
            <a:endParaRPr b="0" i="0" sz="3000" u="none" cap="none" strike="noStrike">
              <a:solidFill>
                <a:schemeClr val="dk1"/>
              </a:solidFill>
              <a:latin typeface="Calibri"/>
              <a:ea typeface="Calibri"/>
              <a:cs typeface="Calibri"/>
              <a:sym typeface="Calibri"/>
            </a:endParaRPr>
          </a:p>
        </p:txBody>
      </p:sp>
      <p:sp>
        <p:nvSpPr>
          <p:cNvPr id="35" name="Google Shape;35;p2"/>
          <p:cNvSpPr/>
          <p:nvPr/>
        </p:nvSpPr>
        <p:spPr>
          <a:xfrm>
            <a:off x="548640" y="1508760"/>
            <a:ext cx="5486400" cy="4480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822960" y="1691640"/>
            <a:ext cx="4937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600"/>
              <a:buFont typeface="Cambria"/>
              <a:buNone/>
            </a:pPr>
            <a:r>
              <a:rPr b="1" i="0" lang="en-US" sz="1600" u="none" cap="none" strike="noStrike">
                <a:solidFill>
                  <a:srgbClr val="0B2E4F"/>
                </a:solidFill>
                <a:latin typeface="Cambria"/>
                <a:ea typeface="Cambria"/>
                <a:cs typeface="Cambria"/>
                <a:sym typeface="Cambria"/>
              </a:rPr>
              <a:t>Why It Matters</a:t>
            </a:r>
            <a:endParaRPr b="0" i="0" sz="1600" u="none" cap="none" strike="noStrike">
              <a:solidFill>
                <a:schemeClr val="dk1"/>
              </a:solidFill>
              <a:latin typeface="Calibri"/>
              <a:ea typeface="Calibri"/>
              <a:cs typeface="Calibri"/>
              <a:sym typeface="Calibri"/>
            </a:endParaRPr>
          </a:p>
        </p:txBody>
      </p:sp>
      <p:sp>
        <p:nvSpPr>
          <p:cNvPr id="37" name="Google Shape;37;p2"/>
          <p:cNvSpPr/>
          <p:nvPr/>
        </p:nvSpPr>
        <p:spPr>
          <a:xfrm>
            <a:off x="822960" y="2103120"/>
            <a:ext cx="493776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Property prices depend on interacting factors — location, size, quality, age, and facilities. Traditional valuation relies on manual inspection and expert judgment, which is time-consuming and subjective. Machine learning offers a data-driven alternative that learns these complex relationships directly from historical sales data.</a:t>
            </a:r>
            <a:endParaRPr b="0" i="0" sz="1300" u="none" cap="none" strike="noStrike">
              <a:solidFill>
                <a:schemeClr val="dk1"/>
              </a:solidFill>
              <a:latin typeface="Calibri"/>
              <a:ea typeface="Calibri"/>
              <a:cs typeface="Calibri"/>
              <a:sym typeface="Calibri"/>
            </a:endParaRPr>
          </a:p>
        </p:txBody>
      </p:sp>
      <p:sp>
        <p:nvSpPr>
          <p:cNvPr id="38" name="Google Shape;38;p2"/>
          <p:cNvSpPr/>
          <p:nvPr/>
        </p:nvSpPr>
        <p:spPr>
          <a:xfrm>
            <a:off x="822960" y="4114800"/>
            <a:ext cx="4937760" cy="1737360"/>
          </a:xfrm>
          <a:prstGeom prst="rect">
            <a:avLst/>
          </a:prstGeom>
          <a:solidFill>
            <a:srgbClr val="0B2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051560" y="4279392"/>
            <a:ext cx="4572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200"/>
              <a:buFont typeface="Calibri"/>
              <a:buNone/>
            </a:pPr>
            <a:r>
              <a:rPr b="1" i="0" lang="en-US" sz="1200" u="none" cap="none" strike="noStrike">
                <a:solidFill>
                  <a:srgbClr val="E8871E"/>
                </a:solidFill>
                <a:latin typeface="Calibri"/>
                <a:ea typeface="Calibri"/>
                <a:cs typeface="Calibri"/>
                <a:sym typeface="Calibri"/>
              </a:rPr>
              <a:t>Target Variable</a:t>
            </a:r>
            <a:endParaRPr b="0" i="0" sz="1200" u="none" cap="none" strike="noStrike">
              <a:solidFill>
                <a:schemeClr val="dk1"/>
              </a:solidFill>
              <a:latin typeface="Calibri"/>
              <a:ea typeface="Calibri"/>
              <a:cs typeface="Calibri"/>
              <a:sym typeface="Calibri"/>
            </a:endParaRPr>
          </a:p>
        </p:txBody>
      </p:sp>
      <p:sp>
        <p:nvSpPr>
          <p:cNvPr id="40" name="Google Shape;40;p2"/>
          <p:cNvSpPr/>
          <p:nvPr/>
        </p:nvSpPr>
        <p:spPr>
          <a:xfrm>
            <a:off x="1051560" y="459028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SalePrice</a:t>
            </a:r>
            <a:endParaRPr b="0" i="0" sz="2400" u="none" cap="none" strike="noStrike">
              <a:solidFill>
                <a:schemeClr val="dk1"/>
              </a:solidFill>
              <a:latin typeface="Calibri"/>
              <a:ea typeface="Calibri"/>
              <a:cs typeface="Calibri"/>
              <a:sym typeface="Calibri"/>
            </a:endParaRPr>
          </a:p>
        </p:txBody>
      </p:sp>
      <p:sp>
        <p:nvSpPr>
          <p:cNvPr id="41" name="Google Shape;41;p2"/>
          <p:cNvSpPr/>
          <p:nvPr/>
        </p:nvSpPr>
        <p:spPr>
          <a:xfrm>
            <a:off x="1051560" y="5074920"/>
            <a:ext cx="4572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EF"/>
              </a:buClr>
              <a:buSzPts val="1200"/>
              <a:buFont typeface="Calibri"/>
              <a:buNone/>
            </a:pPr>
            <a:r>
              <a:rPr b="0" i="0" lang="en-US" sz="1200" u="none" cap="none" strike="noStrike">
                <a:solidFill>
                  <a:srgbClr val="CFE3EF"/>
                </a:solidFill>
                <a:latin typeface="Calibri"/>
                <a:ea typeface="Calibri"/>
                <a:cs typeface="Calibri"/>
                <a:sym typeface="Calibri"/>
              </a:rPr>
              <a:t>The final sale price of each residential property, in US dollars.</a:t>
            </a:r>
            <a:endParaRPr b="0" i="0" sz="1200" u="none" cap="none" strike="noStrike">
              <a:solidFill>
                <a:schemeClr val="dk1"/>
              </a:solidFill>
              <a:latin typeface="Calibri"/>
              <a:ea typeface="Calibri"/>
              <a:cs typeface="Calibri"/>
              <a:sym typeface="Calibri"/>
            </a:endParaRPr>
          </a:p>
        </p:txBody>
      </p:sp>
      <p:sp>
        <p:nvSpPr>
          <p:cNvPr id="42" name="Google Shape;42;p2"/>
          <p:cNvSpPr/>
          <p:nvPr/>
        </p:nvSpPr>
        <p:spPr>
          <a:xfrm>
            <a:off x="6355080" y="1691640"/>
            <a:ext cx="5303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600"/>
              <a:buFont typeface="Cambria"/>
              <a:buNone/>
            </a:pPr>
            <a:r>
              <a:rPr b="1" i="0" lang="en-US" sz="1600" u="none" cap="none" strike="noStrike">
                <a:solidFill>
                  <a:srgbClr val="0B2E4F"/>
                </a:solidFill>
                <a:latin typeface="Cambria"/>
                <a:ea typeface="Cambria"/>
                <a:cs typeface="Cambria"/>
                <a:sym typeface="Cambria"/>
              </a:rPr>
              <a:t>Project Objectives</a:t>
            </a:r>
            <a:endParaRPr b="0" i="0" sz="1600" u="none" cap="none" strike="noStrike">
              <a:solidFill>
                <a:schemeClr val="dk1"/>
              </a:solidFill>
              <a:latin typeface="Calibri"/>
              <a:ea typeface="Calibri"/>
              <a:cs typeface="Calibri"/>
              <a:sym typeface="Calibri"/>
            </a:endParaRPr>
          </a:p>
        </p:txBody>
      </p:sp>
      <p:sp>
        <p:nvSpPr>
          <p:cNvPr id="43" name="Google Shape;43;p2"/>
          <p:cNvSpPr/>
          <p:nvPr/>
        </p:nvSpPr>
        <p:spPr>
          <a:xfrm>
            <a:off x="6355080" y="2148840"/>
            <a:ext cx="292608" cy="29260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355080" y="2148840"/>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1</a:t>
            </a:r>
            <a:endParaRPr b="0" i="0" sz="960" u="none" cap="none" strike="noStrike">
              <a:solidFill>
                <a:schemeClr val="dk1"/>
              </a:solidFill>
              <a:latin typeface="Calibri"/>
              <a:ea typeface="Calibri"/>
              <a:cs typeface="Calibri"/>
              <a:sym typeface="Calibri"/>
            </a:endParaRPr>
          </a:p>
        </p:txBody>
      </p:sp>
      <p:sp>
        <p:nvSpPr>
          <p:cNvPr id="45" name="Google Shape;45;p2"/>
          <p:cNvSpPr/>
          <p:nvPr/>
        </p:nvSpPr>
        <p:spPr>
          <a:xfrm>
            <a:off x="6766560" y="2130552"/>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Clean and preprocess housing data</a:t>
            </a:r>
            <a:endParaRPr b="0" i="0" sz="1300" u="none" cap="none" strike="noStrike">
              <a:solidFill>
                <a:schemeClr val="dk1"/>
              </a:solidFill>
              <a:latin typeface="Calibri"/>
              <a:ea typeface="Calibri"/>
              <a:cs typeface="Calibri"/>
              <a:sym typeface="Calibri"/>
            </a:endParaRPr>
          </a:p>
        </p:txBody>
      </p:sp>
      <p:sp>
        <p:nvSpPr>
          <p:cNvPr id="46" name="Google Shape;46;p2"/>
          <p:cNvSpPr/>
          <p:nvPr/>
        </p:nvSpPr>
        <p:spPr>
          <a:xfrm>
            <a:off x="6355080" y="2660904"/>
            <a:ext cx="292608" cy="292608"/>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355080" y="2660904"/>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2</a:t>
            </a:r>
            <a:endParaRPr b="0" i="0" sz="960" u="none" cap="none" strike="noStrike">
              <a:solidFill>
                <a:schemeClr val="dk1"/>
              </a:solidFill>
              <a:latin typeface="Calibri"/>
              <a:ea typeface="Calibri"/>
              <a:cs typeface="Calibri"/>
              <a:sym typeface="Calibri"/>
            </a:endParaRPr>
          </a:p>
        </p:txBody>
      </p:sp>
      <p:sp>
        <p:nvSpPr>
          <p:cNvPr id="48" name="Google Shape;48;p2"/>
          <p:cNvSpPr/>
          <p:nvPr/>
        </p:nvSpPr>
        <p:spPr>
          <a:xfrm>
            <a:off x="6766560" y="2642616"/>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Analyze patterns using EDA</a:t>
            </a:r>
            <a:endParaRPr b="0" i="0" sz="1300" u="none" cap="none" strike="noStrike">
              <a:solidFill>
                <a:schemeClr val="dk1"/>
              </a:solidFill>
              <a:latin typeface="Calibri"/>
              <a:ea typeface="Calibri"/>
              <a:cs typeface="Calibri"/>
              <a:sym typeface="Calibri"/>
            </a:endParaRPr>
          </a:p>
        </p:txBody>
      </p:sp>
      <p:sp>
        <p:nvSpPr>
          <p:cNvPr id="49" name="Google Shape;49;p2"/>
          <p:cNvSpPr/>
          <p:nvPr/>
        </p:nvSpPr>
        <p:spPr>
          <a:xfrm>
            <a:off x="6355080" y="3172968"/>
            <a:ext cx="292608" cy="29260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6355080" y="3172968"/>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3</a:t>
            </a:r>
            <a:endParaRPr b="0" i="0" sz="960" u="none" cap="none" strike="noStrike">
              <a:solidFill>
                <a:schemeClr val="dk1"/>
              </a:solidFill>
              <a:latin typeface="Calibri"/>
              <a:ea typeface="Calibri"/>
              <a:cs typeface="Calibri"/>
              <a:sym typeface="Calibri"/>
            </a:endParaRPr>
          </a:p>
        </p:txBody>
      </p:sp>
      <p:sp>
        <p:nvSpPr>
          <p:cNvPr id="51" name="Google Shape;51;p2"/>
          <p:cNvSpPr/>
          <p:nvPr/>
        </p:nvSpPr>
        <p:spPr>
          <a:xfrm>
            <a:off x="6766560" y="315468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Engineer meaningful features</a:t>
            </a:r>
            <a:endParaRPr b="0" i="0" sz="1300" u="none" cap="none" strike="noStrike">
              <a:solidFill>
                <a:schemeClr val="dk1"/>
              </a:solidFill>
              <a:latin typeface="Calibri"/>
              <a:ea typeface="Calibri"/>
              <a:cs typeface="Calibri"/>
              <a:sym typeface="Calibri"/>
            </a:endParaRPr>
          </a:p>
        </p:txBody>
      </p:sp>
      <p:sp>
        <p:nvSpPr>
          <p:cNvPr id="52" name="Google Shape;52;p2"/>
          <p:cNvSpPr/>
          <p:nvPr/>
        </p:nvSpPr>
        <p:spPr>
          <a:xfrm>
            <a:off x="6355080" y="3685032"/>
            <a:ext cx="292608" cy="292608"/>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355080" y="3685032"/>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4</a:t>
            </a:r>
            <a:endParaRPr b="0" i="0" sz="960" u="none" cap="none" strike="noStrike">
              <a:solidFill>
                <a:schemeClr val="dk1"/>
              </a:solidFill>
              <a:latin typeface="Calibri"/>
              <a:ea typeface="Calibri"/>
              <a:cs typeface="Calibri"/>
              <a:sym typeface="Calibri"/>
            </a:endParaRPr>
          </a:p>
        </p:txBody>
      </p:sp>
      <p:sp>
        <p:nvSpPr>
          <p:cNvPr id="54" name="Google Shape;54;p2"/>
          <p:cNvSpPr/>
          <p:nvPr/>
        </p:nvSpPr>
        <p:spPr>
          <a:xfrm>
            <a:off x="6766560" y="3666744"/>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Train multiple regression algorithms</a:t>
            </a:r>
            <a:endParaRPr b="0" i="0" sz="1300" u="none" cap="none" strike="noStrike">
              <a:solidFill>
                <a:schemeClr val="dk1"/>
              </a:solidFill>
              <a:latin typeface="Calibri"/>
              <a:ea typeface="Calibri"/>
              <a:cs typeface="Calibri"/>
              <a:sym typeface="Calibri"/>
            </a:endParaRPr>
          </a:p>
        </p:txBody>
      </p:sp>
      <p:sp>
        <p:nvSpPr>
          <p:cNvPr id="55" name="Google Shape;55;p2"/>
          <p:cNvSpPr/>
          <p:nvPr/>
        </p:nvSpPr>
        <p:spPr>
          <a:xfrm>
            <a:off x="6355080" y="4197096"/>
            <a:ext cx="292608" cy="29260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355080" y="4197096"/>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5</a:t>
            </a:r>
            <a:endParaRPr b="0" i="0" sz="960" u="none" cap="none" strike="noStrike">
              <a:solidFill>
                <a:schemeClr val="dk1"/>
              </a:solidFill>
              <a:latin typeface="Calibri"/>
              <a:ea typeface="Calibri"/>
              <a:cs typeface="Calibri"/>
              <a:sym typeface="Calibri"/>
            </a:endParaRPr>
          </a:p>
        </p:txBody>
      </p:sp>
      <p:sp>
        <p:nvSpPr>
          <p:cNvPr id="57" name="Google Shape;57;p2"/>
          <p:cNvSpPr/>
          <p:nvPr/>
        </p:nvSpPr>
        <p:spPr>
          <a:xfrm>
            <a:off x="6766560" y="4178808"/>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Optimize via hyperparameter tuning</a:t>
            </a:r>
            <a:endParaRPr b="0" i="0" sz="1300" u="none" cap="none" strike="noStrike">
              <a:solidFill>
                <a:schemeClr val="dk1"/>
              </a:solidFill>
              <a:latin typeface="Calibri"/>
              <a:ea typeface="Calibri"/>
              <a:cs typeface="Calibri"/>
              <a:sym typeface="Calibri"/>
            </a:endParaRPr>
          </a:p>
        </p:txBody>
      </p:sp>
      <p:sp>
        <p:nvSpPr>
          <p:cNvPr id="58" name="Google Shape;58;p2"/>
          <p:cNvSpPr/>
          <p:nvPr/>
        </p:nvSpPr>
        <p:spPr>
          <a:xfrm>
            <a:off x="6355080" y="4709160"/>
            <a:ext cx="292608" cy="292608"/>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355080" y="4709160"/>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6</a:t>
            </a:r>
            <a:endParaRPr b="0" i="0" sz="960" u="none" cap="none" strike="noStrike">
              <a:solidFill>
                <a:schemeClr val="dk1"/>
              </a:solidFill>
              <a:latin typeface="Calibri"/>
              <a:ea typeface="Calibri"/>
              <a:cs typeface="Calibri"/>
              <a:sym typeface="Calibri"/>
            </a:endParaRPr>
          </a:p>
        </p:txBody>
      </p:sp>
      <p:sp>
        <p:nvSpPr>
          <p:cNvPr id="60" name="Google Shape;60;p2"/>
          <p:cNvSpPr/>
          <p:nvPr/>
        </p:nvSpPr>
        <p:spPr>
          <a:xfrm>
            <a:off x="6766560" y="4690872"/>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Evaluate and compare models</a:t>
            </a:r>
            <a:endParaRPr b="0" i="0" sz="1300" u="none" cap="none" strike="noStrike">
              <a:solidFill>
                <a:schemeClr val="dk1"/>
              </a:solidFill>
              <a:latin typeface="Calibri"/>
              <a:ea typeface="Calibri"/>
              <a:cs typeface="Calibri"/>
              <a:sym typeface="Calibri"/>
            </a:endParaRPr>
          </a:p>
        </p:txBody>
      </p:sp>
      <p:sp>
        <p:nvSpPr>
          <p:cNvPr id="61" name="Google Shape;61;p2"/>
          <p:cNvSpPr/>
          <p:nvPr/>
        </p:nvSpPr>
        <p:spPr>
          <a:xfrm>
            <a:off x="6355080" y="5221224"/>
            <a:ext cx="292608" cy="292608"/>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6355080" y="5221224"/>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7</a:t>
            </a:r>
            <a:endParaRPr b="0" i="0" sz="960" u="none" cap="none" strike="noStrike">
              <a:solidFill>
                <a:schemeClr val="dk1"/>
              </a:solidFill>
              <a:latin typeface="Calibri"/>
              <a:ea typeface="Calibri"/>
              <a:cs typeface="Calibri"/>
              <a:sym typeface="Calibri"/>
            </a:endParaRPr>
          </a:p>
        </p:txBody>
      </p:sp>
      <p:sp>
        <p:nvSpPr>
          <p:cNvPr id="63" name="Google Shape;63;p2"/>
          <p:cNvSpPr/>
          <p:nvPr/>
        </p:nvSpPr>
        <p:spPr>
          <a:xfrm>
            <a:off x="6766560" y="5202936"/>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Explain predictions with SHAP</a:t>
            </a:r>
            <a:endParaRPr b="0" i="0" sz="1300" u="none" cap="none" strike="noStrike">
              <a:solidFill>
                <a:schemeClr val="dk1"/>
              </a:solidFill>
              <a:latin typeface="Calibri"/>
              <a:ea typeface="Calibri"/>
              <a:cs typeface="Calibri"/>
              <a:sym typeface="Calibri"/>
            </a:endParaRPr>
          </a:p>
        </p:txBody>
      </p:sp>
      <p:sp>
        <p:nvSpPr>
          <p:cNvPr id="64" name="Google Shape;64;p2"/>
          <p:cNvSpPr/>
          <p:nvPr/>
        </p:nvSpPr>
        <p:spPr>
          <a:xfrm>
            <a:off x="6355080" y="5733288"/>
            <a:ext cx="292608" cy="292608"/>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6355080" y="5733288"/>
            <a:ext cx="292608"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60"/>
              <a:buFont typeface="Calibri"/>
              <a:buNone/>
            </a:pPr>
            <a:r>
              <a:rPr b="1" i="0" lang="en-US" sz="960" u="none" cap="none" strike="noStrike">
                <a:solidFill>
                  <a:srgbClr val="FFFFFF"/>
                </a:solidFill>
                <a:latin typeface="Calibri"/>
                <a:ea typeface="Calibri"/>
                <a:cs typeface="Calibri"/>
                <a:sym typeface="Calibri"/>
              </a:rPr>
              <a:t>8</a:t>
            </a:r>
            <a:endParaRPr b="0" i="0" sz="960" u="none" cap="none" strike="noStrike">
              <a:solidFill>
                <a:schemeClr val="dk1"/>
              </a:solidFill>
              <a:latin typeface="Calibri"/>
              <a:ea typeface="Calibri"/>
              <a:cs typeface="Calibri"/>
              <a:sym typeface="Calibri"/>
            </a:endParaRPr>
          </a:p>
        </p:txBody>
      </p:sp>
      <p:sp>
        <p:nvSpPr>
          <p:cNvPr id="66" name="Google Shape;66;p2"/>
          <p:cNvSpPr/>
          <p:nvPr/>
        </p:nvSpPr>
        <p:spPr>
          <a:xfrm>
            <a:off x="6766560" y="571500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300"/>
              <a:buFont typeface="Calibri"/>
              <a:buNone/>
            </a:pPr>
            <a:r>
              <a:rPr b="0" i="0" lang="en-US" sz="1300" u="none" cap="none" strike="noStrike">
                <a:solidFill>
                  <a:srgbClr val="1A2430"/>
                </a:solidFill>
                <a:latin typeface="Calibri"/>
                <a:ea typeface="Calibri"/>
                <a:cs typeface="Calibri"/>
                <a:sym typeface="Calibri"/>
              </a:rPr>
              <a:t>Deploy as an interactive web app</a:t>
            </a:r>
            <a:endParaRPr b="0" i="0" sz="1300" u="none" cap="none" strike="noStrike">
              <a:solidFill>
                <a:schemeClr val="dk1"/>
              </a:solidFill>
              <a:latin typeface="Calibri"/>
              <a:ea typeface="Calibri"/>
              <a:cs typeface="Calibri"/>
              <a:sym typeface="Calibri"/>
            </a:endParaRPr>
          </a:p>
        </p:txBody>
      </p:sp>
      <p:sp>
        <p:nvSpPr>
          <p:cNvPr id="67" name="Google Shape;67;p2"/>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68" name="Google Shape;68;p2"/>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3"/>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Dataset Description</a:t>
            </a:r>
            <a:endParaRPr b="0" i="0" sz="3000" u="none" cap="none" strike="noStrike">
              <a:solidFill>
                <a:schemeClr val="dk1"/>
              </a:solidFill>
              <a:latin typeface="Calibri"/>
              <a:ea typeface="Calibri"/>
              <a:cs typeface="Calibri"/>
              <a:sym typeface="Calibri"/>
            </a:endParaRPr>
          </a:p>
        </p:txBody>
      </p:sp>
      <p:sp>
        <p:nvSpPr>
          <p:cNvPr id="75" name="Google Shape;75;p3"/>
          <p:cNvSpPr/>
          <p:nvPr/>
        </p:nvSpPr>
        <p:spPr>
          <a:xfrm>
            <a:off x="548640" y="96012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Ames Housing Dataset — a widely used regression benchmark</a:t>
            </a:r>
            <a:endParaRPr b="0" i="0" sz="1400" u="none" cap="none" strike="noStrike">
              <a:solidFill>
                <a:schemeClr val="dk1"/>
              </a:solidFill>
              <a:latin typeface="Calibri"/>
              <a:ea typeface="Calibri"/>
              <a:cs typeface="Calibri"/>
              <a:sym typeface="Calibri"/>
            </a:endParaRPr>
          </a:p>
        </p:txBody>
      </p:sp>
      <p:sp>
        <p:nvSpPr>
          <p:cNvPr id="76" name="Google Shape;76;p3"/>
          <p:cNvSpPr/>
          <p:nvPr/>
        </p:nvSpPr>
        <p:spPr>
          <a:xfrm>
            <a:off x="548640" y="1554480"/>
            <a:ext cx="2606040" cy="17373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548640" y="1554480"/>
            <a:ext cx="2606040" cy="82296"/>
          </a:xfrm>
          <a:prstGeom prst="rect">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548640" y="1828800"/>
            <a:ext cx="26060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2E4F"/>
              </a:buClr>
              <a:buSzPts val="3400"/>
              <a:buFont typeface="Cambria"/>
              <a:buNone/>
            </a:pPr>
            <a:r>
              <a:rPr b="1" i="0" lang="en-US" sz="3400" u="none" cap="none" strike="noStrike">
                <a:solidFill>
                  <a:srgbClr val="0B2E4F"/>
                </a:solidFill>
                <a:latin typeface="Cambria"/>
                <a:ea typeface="Cambria"/>
                <a:cs typeface="Cambria"/>
                <a:sym typeface="Cambria"/>
              </a:rPr>
              <a:t>1,460</a:t>
            </a:r>
            <a:endParaRPr b="0" i="0" sz="3400" u="none" cap="none" strike="noStrike">
              <a:solidFill>
                <a:schemeClr val="dk1"/>
              </a:solidFill>
              <a:latin typeface="Calibri"/>
              <a:ea typeface="Calibri"/>
              <a:cs typeface="Calibri"/>
              <a:sym typeface="Calibri"/>
            </a:endParaRPr>
          </a:p>
        </p:txBody>
      </p:sp>
      <p:sp>
        <p:nvSpPr>
          <p:cNvPr id="79" name="Google Shape;79;p3"/>
          <p:cNvSpPr/>
          <p:nvPr/>
        </p:nvSpPr>
        <p:spPr>
          <a:xfrm>
            <a:off x="548640" y="25146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250"/>
              <a:buFont typeface="Calibri"/>
              <a:buNone/>
            </a:pPr>
            <a:r>
              <a:rPr b="0" i="0" lang="en-US" sz="1250" u="none" cap="none" strike="noStrike">
                <a:solidFill>
                  <a:srgbClr val="5B6B79"/>
                </a:solidFill>
                <a:latin typeface="Calibri"/>
                <a:ea typeface="Calibri"/>
                <a:cs typeface="Calibri"/>
                <a:sym typeface="Calibri"/>
              </a:rPr>
              <a:t>Training Samples</a:t>
            </a:r>
            <a:endParaRPr b="0" i="0" sz="1250" u="none" cap="none" strike="noStrike">
              <a:solidFill>
                <a:schemeClr val="dk1"/>
              </a:solidFill>
              <a:latin typeface="Calibri"/>
              <a:ea typeface="Calibri"/>
              <a:cs typeface="Calibri"/>
              <a:sym typeface="Calibri"/>
            </a:endParaRPr>
          </a:p>
        </p:txBody>
      </p:sp>
      <p:sp>
        <p:nvSpPr>
          <p:cNvPr id="80" name="Google Shape;80;p3"/>
          <p:cNvSpPr/>
          <p:nvPr/>
        </p:nvSpPr>
        <p:spPr>
          <a:xfrm>
            <a:off x="3337560" y="1554480"/>
            <a:ext cx="2606040" cy="17373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3337560" y="1554480"/>
            <a:ext cx="2606040" cy="82296"/>
          </a:xfrm>
          <a:prstGeom prst="rect">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3337560" y="1828800"/>
            <a:ext cx="26060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2E4F"/>
              </a:buClr>
              <a:buSzPts val="3400"/>
              <a:buFont typeface="Cambria"/>
              <a:buNone/>
            </a:pPr>
            <a:r>
              <a:rPr b="1" i="0" lang="en-US" sz="3400" u="none" cap="none" strike="noStrike">
                <a:solidFill>
                  <a:srgbClr val="0B2E4F"/>
                </a:solidFill>
                <a:latin typeface="Cambria"/>
                <a:ea typeface="Cambria"/>
                <a:cs typeface="Cambria"/>
                <a:sym typeface="Cambria"/>
              </a:rPr>
              <a:t>8</a:t>
            </a:r>
            <a:r>
              <a:rPr b="1" lang="en-US" sz="3400">
                <a:solidFill>
                  <a:srgbClr val="0B2E4F"/>
                </a:solidFill>
                <a:latin typeface="Cambria"/>
                <a:ea typeface="Cambria"/>
                <a:cs typeface="Cambria"/>
                <a:sym typeface="Cambria"/>
              </a:rPr>
              <a:t>1</a:t>
            </a:r>
            <a:endParaRPr b="0" i="0" sz="3400" u="none" cap="none" strike="noStrike">
              <a:solidFill>
                <a:schemeClr val="dk1"/>
              </a:solidFill>
              <a:latin typeface="Calibri"/>
              <a:ea typeface="Calibri"/>
              <a:cs typeface="Calibri"/>
              <a:sym typeface="Calibri"/>
            </a:endParaRPr>
          </a:p>
        </p:txBody>
      </p:sp>
      <p:sp>
        <p:nvSpPr>
          <p:cNvPr id="83" name="Google Shape;83;p3"/>
          <p:cNvSpPr/>
          <p:nvPr/>
        </p:nvSpPr>
        <p:spPr>
          <a:xfrm>
            <a:off x="3337560" y="25146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250"/>
              <a:buFont typeface="Calibri"/>
              <a:buNone/>
            </a:pPr>
            <a:r>
              <a:rPr b="0" i="0" lang="en-US" sz="1250" u="none" cap="none" strike="noStrike">
                <a:solidFill>
                  <a:srgbClr val="5B6B79"/>
                </a:solidFill>
                <a:latin typeface="Calibri"/>
                <a:ea typeface="Calibri"/>
                <a:cs typeface="Calibri"/>
                <a:sym typeface="Calibri"/>
              </a:rPr>
              <a:t>Original Features</a:t>
            </a:r>
            <a:endParaRPr b="0" i="0" sz="1250" u="none" cap="none" strike="noStrike">
              <a:solidFill>
                <a:schemeClr val="dk1"/>
              </a:solidFill>
              <a:latin typeface="Calibri"/>
              <a:ea typeface="Calibri"/>
              <a:cs typeface="Calibri"/>
              <a:sym typeface="Calibri"/>
            </a:endParaRPr>
          </a:p>
        </p:txBody>
      </p:sp>
      <p:sp>
        <p:nvSpPr>
          <p:cNvPr id="84" name="Google Shape;84;p3"/>
          <p:cNvSpPr/>
          <p:nvPr/>
        </p:nvSpPr>
        <p:spPr>
          <a:xfrm>
            <a:off x="6126480" y="1554480"/>
            <a:ext cx="2606040" cy="17373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6126480" y="1554480"/>
            <a:ext cx="2606040" cy="82296"/>
          </a:xfrm>
          <a:prstGeom prst="rect">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6126480" y="1828800"/>
            <a:ext cx="26060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2E4F"/>
              </a:buClr>
              <a:buSzPts val="3400"/>
              <a:buFont typeface="Cambria"/>
              <a:buNone/>
            </a:pPr>
            <a:r>
              <a:rPr b="1" i="0" lang="en-US" sz="3400" u="none" cap="none" strike="noStrike">
                <a:solidFill>
                  <a:srgbClr val="0B2E4F"/>
                </a:solidFill>
                <a:latin typeface="Cambria"/>
                <a:ea typeface="Cambria"/>
                <a:cs typeface="Cambria"/>
                <a:sym typeface="Cambria"/>
              </a:rPr>
              <a:t>38</a:t>
            </a:r>
            <a:endParaRPr b="0" i="0" sz="3400" u="none" cap="none" strike="noStrike">
              <a:solidFill>
                <a:schemeClr val="dk1"/>
              </a:solidFill>
              <a:latin typeface="Calibri"/>
              <a:ea typeface="Calibri"/>
              <a:cs typeface="Calibri"/>
              <a:sym typeface="Calibri"/>
            </a:endParaRPr>
          </a:p>
        </p:txBody>
      </p:sp>
      <p:sp>
        <p:nvSpPr>
          <p:cNvPr id="87" name="Google Shape;87;p3"/>
          <p:cNvSpPr/>
          <p:nvPr/>
        </p:nvSpPr>
        <p:spPr>
          <a:xfrm>
            <a:off x="6126480" y="25146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250"/>
              <a:buFont typeface="Calibri"/>
              <a:buNone/>
            </a:pPr>
            <a:r>
              <a:rPr b="0" i="0" lang="en-US" sz="1250" u="none" cap="none" strike="noStrike">
                <a:solidFill>
                  <a:srgbClr val="5B6B79"/>
                </a:solidFill>
                <a:latin typeface="Calibri"/>
                <a:ea typeface="Calibri"/>
                <a:cs typeface="Calibri"/>
                <a:sym typeface="Calibri"/>
              </a:rPr>
              <a:t>Numerical Features</a:t>
            </a:r>
            <a:endParaRPr b="0" i="0" sz="1250" u="none" cap="none" strike="noStrike">
              <a:solidFill>
                <a:schemeClr val="dk1"/>
              </a:solidFill>
              <a:latin typeface="Calibri"/>
              <a:ea typeface="Calibri"/>
              <a:cs typeface="Calibri"/>
              <a:sym typeface="Calibri"/>
            </a:endParaRPr>
          </a:p>
        </p:txBody>
      </p:sp>
      <p:sp>
        <p:nvSpPr>
          <p:cNvPr id="88" name="Google Shape;88;p3"/>
          <p:cNvSpPr/>
          <p:nvPr/>
        </p:nvSpPr>
        <p:spPr>
          <a:xfrm>
            <a:off x="8915400" y="1554480"/>
            <a:ext cx="2606040" cy="17373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8915400" y="1554480"/>
            <a:ext cx="2606040" cy="82296"/>
          </a:xfrm>
          <a:prstGeom prst="rect">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8915400" y="1828800"/>
            <a:ext cx="260604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2E4F"/>
              </a:buClr>
              <a:buSzPts val="3400"/>
              <a:buFont typeface="Cambria"/>
              <a:buNone/>
            </a:pPr>
            <a:r>
              <a:rPr b="1" i="0" lang="en-US" sz="3400" u="none" cap="none" strike="noStrike">
                <a:solidFill>
                  <a:srgbClr val="0B2E4F"/>
                </a:solidFill>
                <a:latin typeface="Cambria"/>
                <a:ea typeface="Cambria"/>
                <a:cs typeface="Cambria"/>
                <a:sym typeface="Cambria"/>
              </a:rPr>
              <a:t>43</a:t>
            </a:r>
            <a:endParaRPr b="0" i="0" sz="3400" u="none" cap="none" strike="noStrike">
              <a:solidFill>
                <a:schemeClr val="dk1"/>
              </a:solidFill>
              <a:latin typeface="Calibri"/>
              <a:ea typeface="Calibri"/>
              <a:cs typeface="Calibri"/>
              <a:sym typeface="Calibri"/>
            </a:endParaRPr>
          </a:p>
        </p:txBody>
      </p:sp>
      <p:sp>
        <p:nvSpPr>
          <p:cNvPr id="91" name="Google Shape;91;p3"/>
          <p:cNvSpPr/>
          <p:nvPr/>
        </p:nvSpPr>
        <p:spPr>
          <a:xfrm>
            <a:off x="8915400" y="2514600"/>
            <a:ext cx="26060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250"/>
              <a:buFont typeface="Calibri"/>
              <a:buNone/>
            </a:pPr>
            <a:r>
              <a:rPr b="0" i="0" lang="en-US" sz="1250" u="none" cap="none" strike="noStrike">
                <a:solidFill>
                  <a:srgbClr val="5B6B79"/>
                </a:solidFill>
                <a:latin typeface="Calibri"/>
                <a:ea typeface="Calibri"/>
                <a:cs typeface="Calibri"/>
                <a:sym typeface="Calibri"/>
              </a:rPr>
              <a:t>Categorical Features</a:t>
            </a:r>
            <a:endParaRPr b="0" i="0" sz="1250" u="none" cap="none" strike="noStrike">
              <a:solidFill>
                <a:schemeClr val="dk1"/>
              </a:solidFill>
              <a:latin typeface="Calibri"/>
              <a:ea typeface="Calibri"/>
              <a:cs typeface="Calibri"/>
              <a:sym typeface="Calibri"/>
            </a:endParaRPr>
          </a:p>
        </p:txBody>
      </p:sp>
      <p:sp>
        <p:nvSpPr>
          <p:cNvPr id="92" name="Google Shape;92;p3"/>
          <p:cNvSpPr/>
          <p:nvPr/>
        </p:nvSpPr>
        <p:spPr>
          <a:xfrm>
            <a:off x="548640" y="3611880"/>
            <a:ext cx="11091672" cy="2423160"/>
          </a:xfrm>
          <a:prstGeom prst="rect">
            <a:avLst/>
          </a:prstGeom>
          <a:solidFill>
            <a:srgbClr val="0B2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822960" y="379476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500"/>
              <a:buFont typeface="Cambria"/>
              <a:buNone/>
            </a:pPr>
            <a:r>
              <a:rPr b="1" i="0" lang="en-US" sz="1500" u="none" cap="none" strike="noStrike">
                <a:solidFill>
                  <a:srgbClr val="E8871E"/>
                </a:solidFill>
                <a:latin typeface="Cambria"/>
                <a:ea typeface="Cambria"/>
                <a:cs typeface="Cambria"/>
                <a:sym typeface="Cambria"/>
              </a:rPr>
              <a:t>What the Data Contains</a:t>
            </a:r>
            <a:endParaRPr b="0" i="0" sz="1500" u="none" cap="none" strike="noStrike">
              <a:solidFill>
                <a:schemeClr val="dk1"/>
              </a:solidFill>
              <a:latin typeface="Calibri"/>
              <a:ea typeface="Calibri"/>
              <a:cs typeface="Calibri"/>
              <a:sym typeface="Calibri"/>
            </a:endParaRPr>
          </a:p>
        </p:txBody>
      </p:sp>
      <p:sp>
        <p:nvSpPr>
          <p:cNvPr id="94" name="Google Shape;94;p3"/>
          <p:cNvSpPr/>
          <p:nvPr/>
        </p:nvSpPr>
        <p:spPr>
          <a:xfrm>
            <a:off x="822960" y="4251960"/>
            <a:ext cx="274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800"/>
              <a:buFont typeface="Calibri"/>
              <a:buNone/>
            </a:pPr>
            <a:r>
              <a:rPr b="0" i="0" lang="en-US" sz="800" u="none" cap="none" strike="noStrike">
                <a:solidFill>
                  <a:srgbClr val="E8871E"/>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5" name="Google Shape;95;p3"/>
          <p:cNvSpPr/>
          <p:nvPr/>
        </p:nvSpPr>
        <p:spPr>
          <a:xfrm>
            <a:off x="1097280" y="4251960"/>
            <a:ext cx="100584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FE3EF"/>
              </a:buClr>
              <a:buSzPts val="1250"/>
              <a:buFont typeface="Calibri"/>
              <a:buNone/>
            </a:pPr>
            <a:r>
              <a:rPr b="0" i="0" lang="en-US" sz="1250" u="none" cap="none" strike="noStrike">
                <a:solidFill>
                  <a:srgbClr val="CFE3EF"/>
                </a:solidFill>
                <a:latin typeface="Calibri"/>
                <a:ea typeface="Calibri"/>
                <a:cs typeface="Calibri"/>
                <a:sym typeface="Calibri"/>
              </a:rPr>
              <a:t>Comprehensive property information: structural characteristics, quality ratings, neighborhood data, garage and basement details.</a:t>
            </a:r>
            <a:endParaRPr b="0" i="0" sz="1250" u="none" cap="none" strike="noStrike">
              <a:solidFill>
                <a:schemeClr val="dk1"/>
              </a:solidFill>
              <a:latin typeface="Calibri"/>
              <a:ea typeface="Calibri"/>
              <a:cs typeface="Calibri"/>
              <a:sym typeface="Calibri"/>
            </a:endParaRPr>
          </a:p>
        </p:txBody>
      </p:sp>
      <p:sp>
        <p:nvSpPr>
          <p:cNvPr id="96" name="Google Shape;96;p3"/>
          <p:cNvSpPr/>
          <p:nvPr/>
        </p:nvSpPr>
        <p:spPr>
          <a:xfrm>
            <a:off x="822960" y="4846320"/>
            <a:ext cx="274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800"/>
              <a:buFont typeface="Calibri"/>
              <a:buNone/>
            </a:pPr>
            <a:r>
              <a:rPr b="0" i="0" lang="en-US" sz="800" u="none" cap="none" strike="noStrike">
                <a:solidFill>
                  <a:srgbClr val="E8871E"/>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7" name="Google Shape;97;p3"/>
          <p:cNvSpPr/>
          <p:nvPr/>
        </p:nvSpPr>
        <p:spPr>
          <a:xfrm>
            <a:off x="1097280" y="4846320"/>
            <a:ext cx="100584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FE3EF"/>
              </a:buClr>
              <a:buSzPts val="1250"/>
              <a:buFont typeface="Calibri"/>
              <a:buNone/>
            </a:pPr>
            <a:r>
              <a:rPr b="0" i="0" lang="en-US" sz="1250" u="none" cap="none" strike="noStrike">
                <a:solidFill>
                  <a:srgbClr val="CFE3EF"/>
                </a:solidFill>
                <a:latin typeface="Calibri"/>
                <a:ea typeface="Calibri"/>
                <a:cs typeface="Calibri"/>
                <a:sym typeface="Calibri"/>
              </a:rPr>
              <a:t>No duplicate records were found — every observation represents a unique residential property.</a:t>
            </a:r>
            <a:endParaRPr b="0" i="0" sz="1250" u="none" cap="none" strike="noStrike">
              <a:solidFill>
                <a:schemeClr val="dk1"/>
              </a:solidFill>
              <a:latin typeface="Calibri"/>
              <a:ea typeface="Calibri"/>
              <a:cs typeface="Calibri"/>
              <a:sym typeface="Calibri"/>
            </a:endParaRPr>
          </a:p>
        </p:txBody>
      </p:sp>
      <p:sp>
        <p:nvSpPr>
          <p:cNvPr id="98" name="Google Shape;98;p3"/>
          <p:cNvSpPr/>
          <p:nvPr/>
        </p:nvSpPr>
        <p:spPr>
          <a:xfrm>
            <a:off x="822960" y="5440680"/>
            <a:ext cx="274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800"/>
              <a:buFont typeface="Calibri"/>
              <a:buNone/>
            </a:pPr>
            <a:r>
              <a:rPr b="0" i="0" lang="en-US" sz="800" u="none" cap="none" strike="noStrike">
                <a:solidFill>
                  <a:srgbClr val="E8871E"/>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99" name="Google Shape;99;p3"/>
          <p:cNvSpPr/>
          <p:nvPr/>
        </p:nvSpPr>
        <p:spPr>
          <a:xfrm>
            <a:off x="1097280" y="5440680"/>
            <a:ext cx="100584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FE3EF"/>
              </a:buClr>
              <a:buSzPts val="1250"/>
              <a:buFont typeface="Calibri"/>
              <a:buNone/>
            </a:pPr>
            <a:r>
              <a:rPr b="0" i="0" lang="en-US" sz="1250" u="none" cap="none" strike="noStrike">
                <a:solidFill>
                  <a:srgbClr val="CFE3EF"/>
                </a:solidFill>
                <a:latin typeface="Calibri"/>
                <a:ea typeface="Calibri"/>
                <a:cs typeface="Calibri"/>
                <a:sym typeface="Calibri"/>
              </a:rPr>
              <a:t>Several features contain missing values, mostly tied to optional characteristics such as pools, fences, alleys, fireplaces, garages, and basements.</a:t>
            </a:r>
            <a:endParaRPr b="0" i="0" sz="1250" u="none" cap="none" strike="noStrike">
              <a:solidFill>
                <a:schemeClr val="dk1"/>
              </a:solidFill>
              <a:latin typeface="Calibri"/>
              <a:ea typeface="Calibri"/>
              <a:cs typeface="Calibri"/>
              <a:sym typeface="Calibri"/>
            </a:endParaRPr>
          </a:p>
        </p:txBody>
      </p:sp>
      <p:sp>
        <p:nvSpPr>
          <p:cNvPr id="100" name="Google Shape;100;p3"/>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101" name="Google Shape;101;p3"/>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4"/>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Data Cleaning — Missing Value Analysis</a:t>
            </a:r>
            <a:endParaRPr b="0" i="0" sz="3000" u="none" cap="none" strike="noStrike">
              <a:solidFill>
                <a:schemeClr val="dk1"/>
              </a:solidFill>
              <a:latin typeface="Calibri"/>
              <a:ea typeface="Calibri"/>
              <a:cs typeface="Calibri"/>
              <a:sym typeface="Calibri"/>
            </a:endParaRPr>
          </a:p>
        </p:txBody>
      </p:sp>
      <p:sp>
        <p:nvSpPr>
          <p:cNvPr id="108" name="Google Shape;108;p4"/>
          <p:cNvSpPr/>
          <p:nvPr/>
        </p:nvSpPr>
        <p:spPr>
          <a:xfrm>
            <a:off x="7452360" y="1463040"/>
            <a:ext cx="4160520" cy="489204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7680960" y="1645920"/>
            <a:ext cx="3749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500"/>
              <a:buFont typeface="Cambria"/>
              <a:buNone/>
            </a:pPr>
            <a:r>
              <a:rPr b="1" i="0" lang="en-US" sz="1500" u="none" cap="none" strike="noStrike">
                <a:solidFill>
                  <a:srgbClr val="0B2E4F"/>
                </a:solidFill>
                <a:latin typeface="Cambria"/>
                <a:ea typeface="Cambria"/>
                <a:cs typeface="Cambria"/>
                <a:sym typeface="Cambria"/>
              </a:rPr>
              <a:t>Key Findings</a:t>
            </a:r>
            <a:endParaRPr b="0" i="0" sz="1500" u="none" cap="none" strike="noStrike">
              <a:solidFill>
                <a:schemeClr val="dk1"/>
              </a:solidFill>
              <a:latin typeface="Calibri"/>
              <a:ea typeface="Calibri"/>
              <a:cs typeface="Calibri"/>
              <a:sym typeface="Calibri"/>
            </a:endParaRPr>
          </a:p>
        </p:txBody>
      </p:sp>
      <p:sp>
        <p:nvSpPr>
          <p:cNvPr id="110" name="Google Shape;110;p4"/>
          <p:cNvSpPr/>
          <p:nvPr/>
        </p:nvSpPr>
        <p:spPr>
          <a:xfrm>
            <a:off x="7680960" y="2057400"/>
            <a:ext cx="370332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Alley, PoolQC, Fence, MiscFeature</a:t>
            </a:r>
            <a:r>
              <a:rPr b="0" i="0" lang="en-US" sz="1200" u="none" cap="none" strike="noStrike">
                <a:solidFill>
                  <a:srgbClr val="1A2430"/>
                </a:solidFill>
                <a:latin typeface="Calibri"/>
                <a:ea typeface="Calibri"/>
                <a:cs typeface="Calibri"/>
                <a:sym typeface="Calibri"/>
              </a:rPr>
              <a:t> had more than 80% missing values and were removed — limited predictive value, insufficient data for imputation. This 4 features were removed</a:t>
            </a:r>
            <a:endParaRPr b="0" i="0" sz="1200" u="none" cap="none" strike="noStrike">
              <a:solidFill>
                <a:schemeClr val="dk1"/>
              </a:solidFill>
              <a:latin typeface="Calibri"/>
              <a:ea typeface="Calibri"/>
              <a:cs typeface="Calibri"/>
              <a:sym typeface="Calibri"/>
            </a:endParaRPr>
          </a:p>
        </p:txBody>
      </p:sp>
      <p:sp>
        <p:nvSpPr>
          <p:cNvPr id="111" name="Google Shape;111;p4"/>
          <p:cNvSpPr/>
          <p:nvPr/>
        </p:nvSpPr>
        <p:spPr>
          <a:xfrm>
            <a:off x="7680960" y="3246120"/>
            <a:ext cx="3749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mbria"/>
              <a:buNone/>
            </a:pPr>
            <a:r>
              <a:rPr b="1" lang="en-US" sz="1300">
                <a:solidFill>
                  <a:srgbClr val="1C7293"/>
                </a:solidFill>
                <a:latin typeface="Cambria"/>
                <a:ea typeface="Cambria"/>
                <a:cs typeface="Cambria"/>
                <a:sym typeface="Cambria"/>
              </a:rPr>
              <a:t>Handling </a:t>
            </a:r>
            <a:r>
              <a:rPr b="1" i="0" lang="en-US" sz="1300" u="none" cap="none" strike="noStrike">
                <a:solidFill>
                  <a:srgbClr val="1C7293"/>
                </a:solidFill>
                <a:latin typeface="Cambria"/>
                <a:ea typeface="Cambria"/>
                <a:cs typeface="Cambria"/>
                <a:sym typeface="Cambria"/>
              </a:rPr>
              <a:t> Strategy</a:t>
            </a:r>
            <a:endParaRPr b="0" i="0" sz="1300" u="none" cap="none" strike="noStrike">
              <a:solidFill>
                <a:schemeClr val="dk1"/>
              </a:solidFill>
              <a:latin typeface="Calibri"/>
              <a:ea typeface="Calibri"/>
              <a:cs typeface="Calibri"/>
              <a:sym typeface="Calibri"/>
            </a:endParaRPr>
          </a:p>
        </p:txBody>
      </p:sp>
      <p:sp>
        <p:nvSpPr>
          <p:cNvPr id="112" name="Google Shape;112;p4"/>
          <p:cNvSpPr/>
          <p:nvPr/>
        </p:nvSpPr>
        <p:spPr>
          <a:xfrm>
            <a:off x="7680960" y="3611880"/>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200"/>
              <a:buFont typeface="Calibri"/>
              <a:buNone/>
            </a:pPr>
            <a:r>
              <a:rPr b="1" i="0" lang="en-US" sz="1200" u="none" cap="none" strike="noStrike">
                <a:solidFill>
                  <a:srgbClr val="E8871E"/>
                </a:solidFill>
                <a:latin typeface="Calibri"/>
                <a:ea typeface="Calibri"/>
                <a:cs typeface="Calibri"/>
                <a:sym typeface="Calibri"/>
              </a:rPr>
              <a:t>"None"</a:t>
            </a:r>
            <a:endParaRPr b="0" i="0" sz="1200" u="none" cap="none" strike="noStrike">
              <a:solidFill>
                <a:schemeClr val="dk1"/>
              </a:solidFill>
              <a:latin typeface="Calibri"/>
              <a:ea typeface="Calibri"/>
              <a:cs typeface="Calibri"/>
              <a:sym typeface="Calibri"/>
            </a:endParaRPr>
          </a:p>
        </p:txBody>
      </p:sp>
      <p:sp>
        <p:nvSpPr>
          <p:cNvPr id="113" name="Google Shape;113;p4"/>
          <p:cNvSpPr/>
          <p:nvPr/>
        </p:nvSpPr>
        <p:spPr>
          <a:xfrm>
            <a:off x="8823960" y="3611880"/>
            <a:ext cx="2651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050"/>
              <a:buFont typeface="Calibri"/>
              <a:buNone/>
            </a:pPr>
            <a:r>
              <a:rPr b="0" i="0" lang="en-US" sz="1050" u="none" cap="none" strike="noStrike">
                <a:solidFill>
                  <a:srgbClr val="1A2430"/>
                </a:solidFill>
                <a:latin typeface="Calibri"/>
                <a:ea typeface="Calibri"/>
                <a:cs typeface="Calibri"/>
                <a:sym typeface="Calibri"/>
              </a:rPr>
              <a:t>Categorical features where absence means the feature doesn't exist (BsmtQual, GarageType, FireplaceQu, etc.)</a:t>
            </a:r>
            <a:endParaRPr b="0" i="0" sz="1050" u="none" cap="none" strike="noStrike">
              <a:solidFill>
                <a:schemeClr val="dk1"/>
              </a:solidFill>
              <a:latin typeface="Calibri"/>
              <a:ea typeface="Calibri"/>
              <a:cs typeface="Calibri"/>
              <a:sym typeface="Calibri"/>
            </a:endParaRPr>
          </a:p>
        </p:txBody>
      </p:sp>
      <p:sp>
        <p:nvSpPr>
          <p:cNvPr id="114" name="Google Shape;114;p4"/>
          <p:cNvSpPr/>
          <p:nvPr/>
        </p:nvSpPr>
        <p:spPr>
          <a:xfrm>
            <a:off x="7680960" y="4178808"/>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200"/>
              <a:buFont typeface="Calibri"/>
              <a:buNone/>
            </a:pPr>
            <a:r>
              <a:rPr b="1" i="0" lang="en-US" sz="1200" u="none" cap="none" strike="noStrike">
                <a:solidFill>
                  <a:srgbClr val="E8871E"/>
                </a:solidFill>
                <a:latin typeface="Calibri"/>
                <a:ea typeface="Calibri"/>
                <a:cs typeface="Calibri"/>
                <a:sym typeface="Calibri"/>
              </a:rPr>
              <a:t>Median</a:t>
            </a:r>
            <a:endParaRPr b="0" i="0" sz="1200" u="none" cap="none" strike="noStrike">
              <a:solidFill>
                <a:schemeClr val="dk1"/>
              </a:solidFill>
              <a:latin typeface="Calibri"/>
              <a:ea typeface="Calibri"/>
              <a:cs typeface="Calibri"/>
              <a:sym typeface="Calibri"/>
            </a:endParaRPr>
          </a:p>
        </p:txBody>
      </p:sp>
      <p:sp>
        <p:nvSpPr>
          <p:cNvPr id="115" name="Google Shape;115;p4"/>
          <p:cNvSpPr/>
          <p:nvPr/>
        </p:nvSpPr>
        <p:spPr>
          <a:xfrm>
            <a:off x="8823960" y="4178808"/>
            <a:ext cx="2651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050"/>
              <a:buFont typeface="Calibri"/>
              <a:buNone/>
            </a:pPr>
            <a:r>
              <a:rPr b="0" i="0" lang="en-US" sz="1050" u="none" cap="none" strike="noStrike">
                <a:solidFill>
                  <a:srgbClr val="1A2430"/>
                </a:solidFill>
                <a:latin typeface="Calibri"/>
                <a:ea typeface="Calibri"/>
                <a:cs typeface="Calibri"/>
                <a:sym typeface="Calibri"/>
              </a:rPr>
              <a:t>LotFrontage, MasVnrArea, GarageYrBlt — robust to extreme values</a:t>
            </a:r>
            <a:endParaRPr b="0" i="0" sz="1050" u="none" cap="none" strike="noStrike">
              <a:solidFill>
                <a:schemeClr val="dk1"/>
              </a:solidFill>
              <a:latin typeface="Calibri"/>
              <a:ea typeface="Calibri"/>
              <a:cs typeface="Calibri"/>
              <a:sym typeface="Calibri"/>
            </a:endParaRPr>
          </a:p>
        </p:txBody>
      </p:sp>
      <p:sp>
        <p:nvSpPr>
          <p:cNvPr id="116" name="Google Shape;116;p4"/>
          <p:cNvSpPr/>
          <p:nvPr/>
        </p:nvSpPr>
        <p:spPr>
          <a:xfrm>
            <a:off x="7680960" y="4745736"/>
            <a:ext cx="1188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200"/>
              <a:buFont typeface="Calibri"/>
              <a:buNone/>
            </a:pPr>
            <a:r>
              <a:rPr b="1" i="0" lang="en-US" sz="1200" u="none" cap="none" strike="noStrike">
                <a:solidFill>
                  <a:srgbClr val="E8871E"/>
                </a:solidFill>
                <a:latin typeface="Calibri"/>
                <a:ea typeface="Calibri"/>
                <a:cs typeface="Calibri"/>
                <a:sym typeface="Calibri"/>
              </a:rPr>
              <a:t>Mode</a:t>
            </a:r>
            <a:endParaRPr b="0" i="0" sz="1200" u="none" cap="none" strike="noStrike">
              <a:solidFill>
                <a:schemeClr val="dk1"/>
              </a:solidFill>
              <a:latin typeface="Calibri"/>
              <a:ea typeface="Calibri"/>
              <a:cs typeface="Calibri"/>
              <a:sym typeface="Calibri"/>
            </a:endParaRPr>
          </a:p>
        </p:txBody>
      </p:sp>
      <p:sp>
        <p:nvSpPr>
          <p:cNvPr id="117" name="Google Shape;117;p4"/>
          <p:cNvSpPr/>
          <p:nvPr/>
        </p:nvSpPr>
        <p:spPr>
          <a:xfrm>
            <a:off x="8823960" y="4745736"/>
            <a:ext cx="2651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050"/>
              <a:buFont typeface="Calibri"/>
              <a:buNone/>
            </a:pPr>
            <a:r>
              <a:rPr b="0" i="0" lang="en-US" sz="1050" u="none" cap="none" strike="noStrike">
                <a:solidFill>
                  <a:srgbClr val="1A2430"/>
                </a:solidFill>
                <a:latin typeface="Calibri"/>
                <a:ea typeface="Calibri"/>
                <a:cs typeface="Calibri"/>
                <a:sym typeface="Calibri"/>
              </a:rPr>
              <a:t>Electrical — only a few missing values</a:t>
            </a:r>
            <a:endParaRPr b="0" i="0" sz="1050" u="none" cap="none" strike="noStrike">
              <a:solidFill>
                <a:schemeClr val="dk1"/>
              </a:solidFill>
              <a:latin typeface="Calibri"/>
              <a:ea typeface="Calibri"/>
              <a:cs typeface="Calibri"/>
              <a:sym typeface="Calibri"/>
            </a:endParaRPr>
          </a:p>
        </p:txBody>
      </p:sp>
      <p:sp>
        <p:nvSpPr>
          <p:cNvPr id="118" name="Google Shape;118;p4"/>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119" name="Google Shape;119;p4"/>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pic>
        <p:nvPicPr>
          <p:cNvPr id="120" name="Google Shape;120;p4"/>
          <p:cNvPicPr preferRelativeResize="0"/>
          <p:nvPr/>
        </p:nvPicPr>
        <p:blipFill>
          <a:blip r:embed="rId3">
            <a:alphaModFix/>
          </a:blip>
          <a:stretch>
            <a:fillRect/>
          </a:stretch>
        </p:blipFill>
        <p:spPr>
          <a:xfrm>
            <a:off x="152400" y="1645926"/>
            <a:ext cx="7147549" cy="3965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5"/>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Data Cleaning</a:t>
            </a:r>
            <a:endParaRPr b="0" i="0" sz="3000" u="none" cap="none" strike="noStrike">
              <a:solidFill>
                <a:schemeClr val="dk1"/>
              </a:solidFill>
              <a:latin typeface="Calibri"/>
              <a:ea typeface="Calibri"/>
              <a:cs typeface="Calibri"/>
              <a:sym typeface="Calibri"/>
            </a:endParaRPr>
          </a:p>
        </p:txBody>
      </p:sp>
      <p:sp>
        <p:nvSpPr>
          <p:cNvPr id="127" name="Google Shape;127;p5"/>
          <p:cNvSpPr/>
          <p:nvPr/>
        </p:nvSpPr>
        <p:spPr>
          <a:xfrm>
            <a:off x="548640" y="1508760"/>
            <a:ext cx="5440680" cy="23317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822960" y="1783080"/>
            <a:ext cx="457200" cy="4572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822960" y="178308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30" name="Google Shape;130;p5"/>
          <p:cNvSpPr/>
          <p:nvPr/>
        </p:nvSpPr>
        <p:spPr>
          <a:xfrm>
            <a:off x="1463040" y="1764792"/>
            <a:ext cx="4251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500"/>
              <a:buFont typeface="Cambria"/>
              <a:buNone/>
            </a:pPr>
            <a:r>
              <a:rPr b="1" i="0" lang="en-US" sz="1500" u="none" cap="none" strike="noStrike">
                <a:solidFill>
                  <a:srgbClr val="0B2E4F"/>
                </a:solidFill>
                <a:latin typeface="Cambria"/>
                <a:ea typeface="Cambria"/>
                <a:cs typeface="Cambria"/>
                <a:sym typeface="Cambria"/>
              </a:rPr>
              <a:t>Low-Information Features Removed</a:t>
            </a:r>
            <a:endParaRPr b="0" i="0" sz="1500" u="none" cap="none" strike="noStrike">
              <a:solidFill>
                <a:schemeClr val="dk1"/>
              </a:solidFill>
              <a:latin typeface="Calibri"/>
              <a:ea typeface="Calibri"/>
              <a:cs typeface="Calibri"/>
              <a:sym typeface="Calibri"/>
            </a:endParaRPr>
          </a:p>
        </p:txBody>
      </p:sp>
      <p:sp>
        <p:nvSpPr>
          <p:cNvPr id="131" name="Google Shape;131;p5"/>
          <p:cNvSpPr/>
          <p:nvPr/>
        </p:nvSpPr>
        <p:spPr>
          <a:xfrm>
            <a:off x="822960" y="2377440"/>
            <a:ext cx="4892040" cy="12801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200"/>
              <a:buFont typeface="Calibri"/>
              <a:buNone/>
            </a:pPr>
            <a:r>
              <a:rPr b="0" i="0" lang="en-US" sz="1200" u="none" cap="none" strike="noStrike">
                <a:solidFill>
                  <a:srgbClr val="1A2430"/>
                </a:solidFill>
                <a:latin typeface="Calibri"/>
                <a:ea typeface="Calibri"/>
                <a:cs typeface="Calibri"/>
                <a:sym typeface="Calibri"/>
              </a:rPr>
              <a:t>Street, Utilities, Condition2, RoofMatl — near-zero variance with almost all values in a single category.</a:t>
            </a:r>
            <a:endParaRPr b="0" i="0" sz="1200" u="none" cap="none" strike="noStrike">
              <a:solidFill>
                <a:schemeClr val="dk1"/>
              </a:solidFill>
              <a:latin typeface="Calibri"/>
              <a:ea typeface="Calibri"/>
              <a:cs typeface="Calibri"/>
              <a:sym typeface="Calibri"/>
            </a:endParaRPr>
          </a:p>
        </p:txBody>
      </p:sp>
      <p:sp>
        <p:nvSpPr>
          <p:cNvPr id="132" name="Google Shape;132;p5"/>
          <p:cNvSpPr/>
          <p:nvPr/>
        </p:nvSpPr>
        <p:spPr>
          <a:xfrm>
            <a:off x="6309360" y="1508760"/>
            <a:ext cx="5440680" cy="23317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6583680" y="1783080"/>
            <a:ext cx="457200" cy="45720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6583680" y="178308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35" name="Google Shape;135;p5"/>
          <p:cNvSpPr/>
          <p:nvPr/>
        </p:nvSpPr>
        <p:spPr>
          <a:xfrm>
            <a:off x="7223760" y="1764792"/>
            <a:ext cx="4251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500"/>
              <a:buFont typeface="Cambria"/>
              <a:buNone/>
            </a:pPr>
            <a:r>
              <a:rPr b="1" i="0" lang="en-US" sz="1500" u="none" cap="none" strike="noStrike">
                <a:solidFill>
                  <a:srgbClr val="0B2E4F"/>
                </a:solidFill>
                <a:latin typeface="Cambria"/>
                <a:ea typeface="Cambria"/>
                <a:cs typeface="Cambria"/>
                <a:sym typeface="Cambria"/>
              </a:rPr>
              <a:t>Outlier Removal</a:t>
            </a:r>
            <a:endParaRPr b="0" i="0" sz="1500" u="none" cap="none" strike="noStrike">
              <a:solidFill>
                <a:schemeClr val="dk1"/>
              </a:solidFill>
              <a:latin typeface="Calibri"/>
              <a:ea typeface="Calibri"/>
              <a:cs typeface="Calibri"/>
              <a:sym typeface="Calibri"/>
            </a:endParaRPr>
          </a:p>
        </p:txBody>
      </p:sp>
      <p:sp>
        <p:nvSpPr>
          <p:cNvPr id="136" name="Google Shape;136;p5"/>
          <p:cNvSpPr/>
          <p:nvPr/>
        </p:nvSpPr>
        <p:spPr>
          <a:xfrm>
            <a:off x="6583680" y="2377440"/>
            <a:ext cx="4892040" cy="12801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200"/>
              <a:buFont typeface="Calibri"/>
              <a:buNone/>
            </a:pPr>
            <a:r>
              <a:rPr b="0" i="0" lang="en-US" sz="1200" u="none" cap="none" strike="noStrike">
                <a:solidFill>
                  <a:srgbClr val="1A2430"/>
                </a:solidFill>
                <a:latin typeface="Calibri"/>
                <a:ea typeface="Calibri"/>
                <a:cs typeface="Calibri"/>
                <a:sym typeface="Calibri"/>
              </a:rPr>
              <a:t>Removed properties with GrLivArea &gt; 4,000 sq ft and SalePrice &lt; $300,000 — unusually large homes sold at low prices that could distort regression models.</a:t>
            </a:r>
            <a:endParaRPr b="0" i="0" sz="1200" u="none" cap="none" strike="noStrike">
              <a:solidFill>
                <a:schemeClr val="dk1"/>
              </a:solidFill>
              <a:latin typeface="Calibri"/>
              <a:ea typeface="Calibri"/>
              <a:cs typeface="Calibri"/>
              <a:sym typeface="Calibri"/>
            </a:endParaRPr>
          </a:p>
        </p:txBody>
      </p:sp>
      <p:sp>
        <p:nvSpPr>
          <p:cNvPr id="137" name="Google Shape;137;p5"/>
          <p:cNvSpPr/>
          <p:nvPr/>
        </p:nvSpPr>
        <p:spPr>
          <a:xfrm>
            <a:off x="548640" y="4160520"/>
            <a:ext cx="5440680" cy="23317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822960" y="4434840"/>
            <a:ext cx="457200" cy="4572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822960" y="443484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40" name="Google Shape;140;p5"/>
          <p:cNvSpPr/>
          <p:nvPr/>
        </p:nvSpPr>
        <p:spPr>
          <a:xfrm>
            <a:off x="1463040" y="4416552"/>
            <a:ext cx="4251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500"/>
              <a:buFont typeface="Cambria"/>
              <a:buNone/>
            </a:pPr>
            <a:r>
              <a:rPr b="1" i="0" lang="en-US" sz="1500" u="none" cap="none" strike="noStrike">
                <a:solidFill>
                  <a:srgbClr val="0B2E4F"/>
                </a:solidFill>
                <a:latin typeface="Cambria"/>
                <a:ea typeface="Cambria"/>
                <a:cs typeface="Cambria"/>
                <a:sym typeface="Cambria"/>
              </a:rPr>
              <a:t>Feature Encoding</a:t>
            </a:r>
            <a:endParaRPr b="0" i="0" sz="1500" u="none" cap="none" strike="noStrike">
              <a:solidFill>
                <a:schemeClr val="dk1"/>
              </a:solidFill>
              <a:latin typeface="Calibri"/>
              <a:ea typeface="Calibri"/>
              <a:cs typeface="Calibri"/>
              <a:sym typeface="Calibri"/>
            </a:endParaRPr>
          </a:p>
        </p:txBody>
      </p:sp>
      <p:sp>
        <p:nvSpPr>
          <p:cNvPr id="141" name="Google Shape;141;p5"/>
          <p:cNvSpPr/>
          <p:nvPr/>
        </p:nvSpPr>
        <p:spPr>
          <a:xfrm>
            <a:off x="822960" y="5029200"/>
            <a:ext cx="4892040" cy="12801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200"/>
              <a:buFont typeface="Calibri"/>
              <a:buNone/>
            </a:pPr>
            <a:r>
              <a:rPr b="0" i="0" lang="en-US" sz="1200" u="none" cap="none" strike="noStrike">
                <a:solidFill>
                  <a:srgbClr val="1A2430"/>
                </a:solidFill>
                <a:latin typeface="Calibri"/>
                <a:ea typeface="Calibri"/>
                <a:cs typeface="Calibri"/>
                <a:sym typeface="Calibri"/>
              </a:rPr>
              <a:t>One-Hot Encoding for categorical variables</a:t>
            </a:r>
            <a:r>
              <a:rPr lang="en-US" sz="1200">
                <a:solidFill>
                  <a:srgbClr val="1A2430"/>
                </a:solidFill>
                <a:latin typeface="Calibri"/>
                <a:ea typeface="Calibri"/>
                <a:cs typeface="Calibri"/>
                <a:sym typeface="Calibri"/>
              </a:rPr>
              <a:t>.</a:t>
            </a:r>
            <a:endParaRPr i="0" sz="1200" u="none" cap="none" strike="noStrike">
              <a:solidFill>
                <a:schemeClr val="dk1"/>
              </a:solidFill>
              <a:latin typeface="Calibri"/>
              <a:ea typeface="Calibri"/>
              <a:cs typeface="Calibri"/>
              <a:sym typeface="Calibri"/>
            </a:endParaRPr>
          </a:p>
        </p:txBody>
      </p:sp>
      <p:sp>
        <p:nvSpPr>
          <p:cNvPr id="142" name="Google Shape;142;p5"/>
          <p:cNvSpPr/>
          <p:nvPr/>
        </p:nvSpPr>
        <p:spPr>
          <a:xfrm>
            <a:off x="6309360" y="4160520"/>
            <a:ext cx="5440680" cy="23317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6583680" y="4434840"/>
            <a:ext cx="457200" cy="45720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6583680" y="443484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45" name="Google Shape;145;p5"/>
          <p:cNvSpPr/>
          <p:nvPr/>
        </p:nvSpPr>
        <p:spPr>
          <a:xfrm>
            <a:off x="7223760" y="4416552"/>
            <a:ext cx="4251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500"/>
              <a:buFont typeface="Cambria"/>
              <a:buNone/>
            </a:pPr>
            <a:r>
              <a:rPr b="1" i="0" lang="en-US" sz="1500" u="none" cap="none" strike="noStrike">
                <a:solidFill>
                  <a:srgbClr val="0B2E4F"/>
                </a:solidFill>
                <a:latin typeface="Cambria"/>
                <a:ea typeface="Cambria"/>
                <a:cs typeface="Cambria"/>
                <a:sym typeface="Cambria"/>
              </a:rPr>
              <a:t>Feature Transformation Pipeline</a:t>
            </a:r>
            <a:endParaRPr b="0" i="0" sz="1500" u="none" cap="none" strike="noStrike">
              <a:solidFill>
                <a:schemeClr val="dk1"/>
              </a:solidFill>
              <a:latin typeface="Calibri"/>
              <a:ea typeface="Calibri"/>
              <a:cs typeface="Calibri"/>
              <a:sym typeface="Calibri"/>
            </a:endParaRPr>
          </a:p>
        </p:txBody>
      </p:sp>
      <p:sp>
        <p:nvSpPr>
          <p:cNvPr id="146" name="Google Shape;146;p5"/>
          <p:cNvSpPr/>
          <p:nvPr/>
        </p:nvSpPr>
        <p:spPr>
          <a:xfrm>
            <a:off x="6583680" y="5029200"/>
            <a:ext cx="4892040" cy="128016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200"/>
              <a:buFont typeface="Calibri"/>
              <a:buNone/>
            </a:pPr>
            <a:r>
              <a:rPr lang="en-US" sz="1100">
                <a:solidFill>
                  <a:srgbClr val="434343"/>
                </a:solidFill>
              </a:rPr>
              <a:t>A Scikit-learn </a:t>
            </a:r>
            <a:r>
              <a:rPr lang="en-US" sz="1100">
                <a:solidFill>
                  <a:srgbClr val="434343"/>
                </a:solidFill>
                <a:latin typeface="Roboto Mono"/>
                <a:ea typeface="Roboto Mono"/>
                <a:cs typeface="Roboto Mono"/>
                <a:sym typeface="Roboto Mono"/>
              </a:rPr>
              <a:t>ColumnTransformer</a:t>
            </a:r>
            <a:r>
              <a:rPr lang="en-US" sz="1100">
                <a:solidFill>
                  <a:srgbClr val="434343"/>
                </a:solidFill>
              </a:rPr>
              <a:t> and </a:t>
            </a:r>
            <a:r>
              <a:rPr lang="en-US" sz="1100">
                <a:solidFill>
                  <a:srgbClr val="434343"/>
                </a:solidFill>
                <a:latin typeface="Roboto Mono"/>
                <a:ea typeface="Roboto Mono"/>
                <a:cs typeface="Roboto Mono"/>
                <a:sym typeface="Roboto Mono"/>
              </a:rPr>
              <a:t>Pipeline</a:t>
            </a:r>
            <a:r>
              <a:rPr lang="en-US" sz="1100">
                <a:solidFill>
                  <a:srgbClr val="434343"/>
                </a:solidFill>
              </a:rPr>
              <a:t> were used to perform median imputation and feature scaling for numerical features </a:t>
            </a:r>
            <a:endParaRPr i="0" sz="1200" u="none" cap="none" strike="noStrike">
              <a:solidFill>
                <a:srgbClr val="434343"/>
              </a:solidFill>
              <a:latin typeface="Calibri"/>
              <a:ea typeface="Calibri"/>
              <a:cs typeface="Calibri"/>
              <a:sym typeface="Calibri"/>
            </a:endParaRPr>
          </a:p>
        </p:txBody>
      </p:sp>
      <p:sp>
        <p:nvSpPr>
          <p:cNvPr id="147" name="Google Shape;147;p5"/>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148" name="Google Shape;148;p5"/>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6"/>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Exploratory Data Analysis — SalePrice Distribution</a:t>
            </a:r>
            <a:endParaRPr b="0" i="0" sz="3000" u="none" cap="none" strike="noStrike">
              <a:solidFill>
                <a:schemeClr val="dk1"/>
              </a:solidFill>
              <a:latin typeface="Calibri"/>
              <a:ea typeface="Calibri"/>
              <a:cs typeface="Calibri"/>
              <a:sym typeface="Calibri"/>
            </a:endParaRPr>
          </a:p>
        </p:txBody>
      </p:sp>
      <p:pic>
        <p:nvPicPr>
          <p:cNvPr descr="/home/claude/extracted_images/fig02_saleprice_dist.jpg" id="155" name="Google Shape;155;p6"/>
          <p:cNvPicPr preferRelativeResize="0"/>
          <p:nvPr/>
        </p:nvPicPr>
        <p:blipFill rotWithShape="1">
          <a:blip r:embed="rId3">
            <a:alphaModFix/>
          </a:blip>
          <a:srcRect b="0" l="0" r="0" t="0"/>
          <a:stretch/>
        </p:blipFill>
        <p:spPr>
          <a:xfrm>
            <a:off x="5939790" y="1348747"/>
            <a:ext cx="5440680" cy="3063240"/>
          </a:xfrm>
          <a:prstGeom prst="rect">
            <a:avLst/>
          </a:prstGeom>
          <a:noFill/>
          <a:ln>
            <a:noFill/>
          </a:ln>
        </p:spPr>
      </p:pic>
      <p:sp>
        <p:nvSpPr>
          <p:cNvPr id="156" name="Google Shape;156;p6"/>
          <p:cNvSpPr/>
          <p:nvPr/>
        </p:nvSpPr>
        <p:spPr>
          <a:xfrm>
            <a:off x="548640" y="4754880"/>
            <a:ext cx="11091672" cy="1600200"/>
          </a:xfrm>
          <a:prstGeom prst="rect">
            <a:avLst/>
          </a:prstGeom>
          <a:solidFill>
            <a:srgbClr val="0B2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822960" y="493776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400"/>
              <a:buFont typeface="Cambria"/>
              <a:buNone/>
            </a:pPr>
            <a:r>
              <a:rPr b="1" i="0" lang="en-US" sz="1400" u="none" cap="none" strike="noStrike">
                <a:solidFill>
                  <a:srgbClr val="E8871E"/>
                </a:solidFill>
                <a:latin typeface="Cambria"/>
                <a:ea typeface="Cambria"/>
                <a:cs typeface="Cambria"/>
                <a:sym typeface="Cambria"/>
              </a:rPr>
              <a:t>House prices are right-skewed</a:t>
            </a:r>
            <a:endParaRPr b="0" i="0" sz="1400" u="none" cap="none" strike="noStrike">
              <a:solidFill>
                <a:schemeClr val="dk1"/>
              </a:solidFill>
              <a:latin typeface="Calibri"/>
              <a:ea typeface="Calibri"/>
              <a:cs typeface="Calibri"/>
              <a:sym typeface="Calibri"/>
            </a:endParaRPr>
          </a:p>
        </p:txBody>
      </p:sp>
      <p:sp>
        <p:nvSpPr>
          <p:cNvPr id="158" name="Google Shape;158;p6"/>
          <p:cNvSpPr/>
          <p:nvPr/>
        </p:nvSpPr>
        <p:spPr>
          <a:xfrm>
            <a:off x="822960" y="5303520"/>
            <a:ext cx="1033272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CFE3EF"/>
              </a:buClr>
              <a:buSzPts val="1250"/>
              <a:buFont typeface="Calibri"/>
              <a:buNone/>
            </a:pPr>
            <a:r>
              <a:rPr b="0" i="0" lang="en-US" sz="1250" u="none" cap="none" strike="noStrike">
                <a:solidFill>
                  <a:srgbClr val="CFE3EF"/>
                </a:solidFill>
                <a:latin typeface="Calibri"/>
                <a:ea typeface="Calibri"/>
                <a:cs typeface="Calibri"/>
                <a:sym typeface="Calibri"/>
              </a:rPr>
              <a:t>SalePrice shows a typical right-skewed distribution common to real-estate data. A log transformation, log(1 + SalePrice), was analyzed to normalize the distribution and better support model assumptions and visualization.</a:t>
            </a:r>
            <a:endParaRPr b="0" i="0" sz="1250" u="none" cap="none" strike="noStrike">
              <a:solidFill>
                <a:schemeClr val="dk1"/>
              </a:solidFill>
              <a:latin typeface="Calibri"/>
              <a:ea typeface="Calibri"/>
              <a:cs typeface="Calibri"/>
              <a:sym typeface="Calibri"/>
            </a:endParaRPr>
          </a:p>
        </p:txBody>
      </p:sp>
      <p:sp>
        <p:nvSpPr>
          <p:cNvPr id="159" name="Google Shape;159;p6"/>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160" name="Google Shape;160;p6"/>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pic>
        <p:nvPicPr>
          <p:cNvPr descr="/home/claude/extracted_images/fig01_missing_values.jpg" id="161" name="Google Shape;161;p6"/>
          <p:cNvPicPr preferRelativeResize="0"/>
          <p:nvPr/>
        </p:nvPicPr>
        <p:blipFill rotWithShape="1">
          <a:blip r:embed="rId4">
            <a:alphaModFix/>
          </a:blip>
          <a:srcRect b="0" l="0" r="0" t="0"/>
          <a:stretch/>
        </p:blipFill>
        <p:spPr>
          <a:xfrm>
            <a:off x="548650" y="1463050"/>
            <a:ext cx="5240626" cy="2948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7"/>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Exploratory Data Analysis — Correlation Analysis</a:t>
            </a:r>
            <a:endParaRPr b="0" i="0" sz="3000" u="none" cap="none" strike="noStrike">
              <a:solidFill>
                <a:schemeClr val="dk1"/>
              </a:solidFill>
              <a:latin typeface="Calibri"/>
              <a:ea typeface="Calibri"/>
              <a:cs typeface="Calibri"/>
              <a:sym typeface="Calibri"/>
            </a:endParaRPr>
          </a:p>
        </p:txBody>
      </p:sp>
      <p:sp>
        <p:nvSpPr>
          <p:cNvPr id="168" name="Google Shape;168;p7"/>
          <p:cNvSpPr/>
          <p:nvPr/>
        </p:nvSpPr>
        <p:spPr>
          <a:xfrm>
            <a:off x="7726680" y="1463040"/>
            <a:ext cx="3913632" cy="489204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7955280" y="1645920"/>
            <a:ext cx="3474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500"/>
              <a:buFont typeface="Cambria"/>
              <a:buNone/>
            </a:pPr>
            <a:r>
              <a:rPr b="1" i="0" lang="en-US" sz="1500" u="none" cap="none" strike="noStrike">
                <a:solidFill>
                  <a:srgbClr val="0B2E4F"/>
                </a:solidFill>
                <a:latin typeface="Cambria"/>
                <a:ea typeface="Cambria"/>
                <a:cs typeface="Cambria"/>
                <a:sym typeface="Cambria"/>
              </a:rPr>
              <a:t>Strongest Predictors</a:t>
            </a:r>
            <a:endParaRPr b="0" i="0" sz="1500" u="none" cap="none" strike="noStrike">
              <a:solidFill>
                <a:schemeClr val="dk1"/>
              </a:solidFill>
              <a:latin typeface="Calibri"/>
              <a:ea typeface="Calibri"/>
              <a:cs typeface="Calibri"/>
              <a:sym typeface="Calibri"/>
            </a:endParaRPr>
          </a:p>
        </p:txBody>
      </p:sp>
      <p:sp>
        <p:nvSpPr>
          <p:cNvPr id="170" name="Google Shape;170;p7"/>
          <p:cNvSpPr/>
          <p:nvPr/>
        </p:nvSpPr>
        <p:spPr>
          <a:xfrm>
            <a:off x="7955280" y="2148840"/>
            <a:ext cx="365760" cy="36576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7955280" y="214884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72" name="Google Shape;172;p7"/>
          <p:cNvSpPr/>
          <p:nvPr/>
        </p:nvSpPr>
        <p:spPr>
          <a:xfrm>
            <a:off x="8458200" y="2103120"/>
            <a:ext cx="3017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00"/>
              <a:buFont typeface="Calibri"/>
              <a:buNone/>
            </a:pPr>
            <a:r>
              <a:rPr b="1" i="0" lang="en-US" sz="1300" u="none" cap="none" strike="noStrike">
                <a:solidFill>
                  <a:srgbClr val="0B2E4F"/>
                </a:solidFill>
                <a:latin typeface="Calibri"/>
                <a:ea typeface="Calibri"/>
                <a:cs typeface="Calibri"/>
                <a:sym typeface="Calibri"/>
              </a:rPr>
              <a:t>OverallQual</a:t>
            </a:r>
            <a:endParaRPr b="0" i="0" sz="1300" u="none" cap="none" strike="noStrike">
              <a:solidFill>
                <a:schemeClr val="dk1"/>
              </a:solidFill>
              <a:latin typeface="Calibri"/>
              <a:ea typeface="Calibri"/>
              <a:cs typeface="Calibri"/>
              <a:sym typeface="Calibri"/>
            </a:endParaRPr>
          </a:p>
        </p:txBody>
      </p:sp>
      <p:sp>
        <p:nvSpPr>
          <p:cNvPr id="173" name="Google Shape;173;p7"/>
          <p:cNvSpPr/>
          <p:nvPr/>
        </p:nvSpPr>
        <p:spPr>
          <a:xfrm>
            <a:off x="8458200" y="2404872"/>
            <a:ext cx="3017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Overall material &amp; finish quality</a:t>
            </a:r>
            <a:endParaRPr b="0" i="0" sz="1050" u="none" cap="none" strike="noStrike">
              <a:solidFill>
                <a:schemeClr val="dk1"/>
              </a:solidFill>
              <a:latin typeface="Calibri"/>
              <a:ea typeface="Calibri"/>
              <a:cs typeface="Calibri"/>
              <a:sym typeface="Calibri"/>
            </a:endParaRPr>
          </a:p>
        </p:txBody>
      </p:sp>
      <p:sp>
        <p:nvSpPr>
          <p:cNvPr id="174" name="Google Shape;174;p7"/>
          <p:cNvSpPr/>
          <p:nvPr/>
        </p:nvSpPr>
        <p:spPr>
          <a:xfrm>
            <a:off x="7955280" y="2990088"/>
            <a:ext cx="365760" cy="36576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7955280" y="299008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76" name="Google Shape;176;p7"/>
          <p:cNvSpPr/>
          <p:nvPr/>
        </p:nvSpPr>
        <p:spPr>
          <a:xfrm>
            <a:off x="8458200" y="2944368"/>
            <a:ext cx="3017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00"/>
              <a:buFont typeface="Calibri"/>
              <a:buNone/>
            </a:pPr>
            <a:r>
              <a:rPr b="1" i="0" lang="en-US" sz="1300" u="none" cap="none" strike="noStrike">
                <a:solidFill>
                  <a:srgbClr val="0B2E4F"/>
                </a:solidFill>
                <a:latin typeface="Calibri"/>
                <a:ea typeface="Calibri"/>
                <a:cs typeface="Calibri"/>
                <a:sym typeface="Calibri"/>
              </a:rPr>
              <a:t>GrLivArea</a:t>
            </a:r>
            <a:endParaRPr b="0" i="0" sz="1300" u="none" cap="none" strike="noStrike">
              <a:solidFill>
                <a:schemeClr val="dk1"/>
              </a:solidFill>
              <a:latin typeface="Calibri"/>
              <a:ea typeface="Calibri"/>
              <a:cs typeface="Calibri"/>
              <a:sym typeface="Calibri"/>
            </a:endParaRPr>
          </a:p>
        </p:txBody>
      </p:sp>
      <p:sp>
        <p:nvSpPr>
          <p:cNvPr id="177" name="Google Shape;177;p7"/>
          <p:cNvSpPr/>
          <p:nvPr/>
        </p:nvSpPr>
        <p:spPr>
          <a:xfrm>
            <a:off x="8458200" y="3246120"/>
            <a:ext cx="3017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Above-ground living area (sq ft)</a:t>
            </a:r>
            <a:endParaRPr b="0" i="0" sz="1050" u="none" cap="none" strike="noStrike">
              <a:solidFill>
                <a:schemeClr val="dk1"/>
              </a:solidFill>
              <a:latin typeface="Calibri"/>
              <a:ea typeface="Calibri"/>
              <a:cs typeface="Calibri"/>
              <a:sym typeface="Calibri"/>
            </a:endParaRPr>
          </a:p>
        </p:txBody>
      </p:sp>
      <p:sp>
        <p:nvSpPr>
          <p:cNvPr id="178" name="Google Shape;178;p7"/>
          <p:cNvSpPr/>
          <p:nvPr/>
        </p:nvSpPr>
        <p:spPr>
          <a:xfrm>
            <a:off x="7955280" y="3831336"/>
            <a:ext cx="365760" cy="36576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7955280" y="383133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80" name="Google Shape;180;p7"/>
          <p:cNvSpPr/>
          <p:nvPr/>
        </p:nvSpPr>
        <p:spPr>
          <a:xfrm>
            <a:off x="8458200" y="3785616"/>
            <a:ext cx="3017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00"/>
              <a:buFont typeface="Calibri"/>
              <a:buNone/>
            </a:pPr>
            <a:r>
              <a:rPr b="1" i="0" lang="en-US" sz="1300" u="none" cap="none" strike="noStrike">
                <a:solidFill>
                  <a:srgbClr val="0B2E4F"/>
                </a:solidFill>
                <a:latin typeface="Calibri"/>
                <a:ea typeface="Calibri"/>
                <a:cs typeface="Calibri"/>
                <a:sym typeface="Calibri"/>
              </a:rPr>
              <a:t>TotalBsmtSF</a:t>
            </a:r>
            <a:endParaRPr b="0" i="0" sz="1300" u="none" cap="none" strike="noStrike">
              <a:solidFill>
                <a:schemeClr val="dk1"/>
              </a:solidFill>
              <a:latin typeface="Calibri"/>
              <a:ea typeface="Calibri"/>
              <a:cs typeface="Calibri"/>
              <a:sym typeface="Calibri"/>
            </a:endParaRPr>
          </a:p>
        </p:txBody>
      </p:sp>
      <p:sp>
        <p:nvSpPr>
          <p:cNvPr id="181" name="Google Shape;181;p7"/>
          <p:cNvSpPr/>
          <p:nvPr/>
        </p:nvSpPr>
        <p:spPr>
          <a:xfrm>
            <a:off x="8458200" y="4087368"/>
            <a:ext cx="3017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Total basement area</a:t>
            </a:r>
            <a:endParaRPr b="0" i="0" sz="1050" u="none" cap="none" strike="noStrike">
              <a:solidFill>
                <a:schemeClr val="dk1"/>
              </a:solidFill>
              <a:latin typeface="Calibri"/>
              <a:ea typeface="Calibri"/>
              <a:cs typeface="Calibri"/>
              <a:sym typeface="Calibri"/>
            </a:endParaRPr>
          </a:p>
        </p:txBody>
      </p:sp>
      <p:sp>
        <p:nvSpPr>
          <p:cNvPr id="182" name="Google Shape;182;p7"/>
          <p:cNvSpPr/>
          <p:nvPr/>
        </p:nvSpPr>
        <p:spPr>
          <a:xfrm>
            <a:off x="7955280" y="4672584"/>
            <a:ext cx="365760" cy="36576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7955280" y="467258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84" name="Google Shape;184;p7"/>
          <p:cNvSpPr/>
          <p:nvPr/>
        </p:nvSpPr>
        <p:spPr>
          <a:xfrm>
            <a:off x="8458200" y="4626864"/>
            <a:ext cx="30175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00"/>
              <a:buFont typeface="Calibri"/>
              <a:buNone/>
            </a:pPr>
            <a:r>
              <a:rPr b="1" i="0" lang="en-US" sz="1300" u="none" cap="none" strike="noStrike">
                <a:solidFill>
                  <a:srgbClr val="0B2E4F"/>
                </a:solidFill>
                <a:latin typeface="Calibri"/>
                <a:ea typeface="Calibri"/>
                <a:cs typeface="Calibri"/>
                <a:sym typeface="Calibri"/>
              </a:rPr>
              <a:t>GarageCars</a:t>
            </a:r>
            <a:endParaRPr b="0" i="0" sz="1300" u="none" cap="none" strike="noStrike">
              <a:solidFill>
                <a:schemeClr val="dk1"/>
              </a:solidFill>
              <a:latin typeface="Calibri"/>
              <a:ea typeface="Calibri"/>
              <a:cs typeface="Calibri"/>
              <a:sym typeface="Calibri"/>
            </a:endParaRPr>
          </a:p>
        </p:txBody>
      </p:sp>
      <p:sp>
        <p:nvSpPr>
          <p:cNvPr id="185" name="Google Shape;185;p7"/>
          <p:cNvSpPr/>
          <p:nvPr/>
        </p:nvSpPr>
        <p:spPr>
          <a:xfrm>
            <a:off x="8458200" y="4928616"/>
            <a:ext cx="30175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Garage capacity (# of cars)</a:t>
            </a:r>
            <a:endParaRPr b="0" i="0" sz="1050" u="none" cap="none" strike="noStrike">
              <a:solidFill>
                <a:schemeClr val="dk1"/>
              </a:solidFill>
              <a:latin typeface="Calibri"/>
              <a:ea typeface="Calibri"/>
              <a:cs typeface="Calibri"/>
              <a:sym typeface="Calibri"/>
            </a:endParaRPr>
          </a:p>
        </p:txBody>
      </p:sp>
      <p:sp>
        <p:nvSpPr>
          <p:cNvPr id="186" name="Google Shape;186;p7"/>
          <p:cNvSpPr/>
          <p:nvPr/>
        </p:nvSpPr>
        <p:spPr>
          <a:xfrm>
            <a:off x="7955280" y="5623560"/>
            <a:ext cx="34747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00"/>
              <a:buFont typeface="Calibri"/>
              <a:buNone/>
            </a:pPr>
            <a:r>
              <a:rPr b="0" i="1" lang="en-US" sz="1100" u="none" cap="none" strike="noStrike">
                <a:solidFill>
                  <a:srgbClr val="1A2430"/>
                </a:solidFill>
                <a:latin typeface="Calibri"/>
                <a:ea typeface="Calibri"/>
                <a:cs typeface="Calibri"/>
                <a:sym typeface="Calibri"/>
              </a:rPr>
              <a:t>These features were prioritized during feature engineering and model training.</a:t>
            </a:r>
            <a:endParaRPr b="0" i="0" sz="1100" u="none" cap="none" strike="noStrike">
              <a:solidFill>
                <a:schemeClr val="dk1"/>
              </a:solidFill>
              <a:latin typeface="Calibri"/>
              <a:ea typeface="Calibri"/>
              <a:cs typeface="Calibri"/>
              <a:sym typeface="Calibri"/>
            </a:endParaRPr>
          </a:p>
        </p:txBody>
      </p:sp>
      <p:sp>
        <p:nvSpPr>
          <p:cNvPr id="187" name="Google Shape;187;p7"/>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188" name="Google Shape;188;p7"/>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pic>
        <p:nvPicPr>
          <p:cNvPr descr="/home/claude/extracted_images/fig03_log_saleprice.png" id="189" name="Google Shape;189;p7"/>
          <p:cNvPicPr preferRelativeResize="0"/>
          <p:nvPr/>
        </p:nvPicPr>
        <p:blipFill rotWithShape="1">
          <a:blip r:embed="rId3">
            <a:alphaModFix/>
          </a:blip>
          <a:srcRect b="0" l="0" r="0" t="0"/>
          <a:stretch/>
        </p:blipFill>
        <p:spPr>
          <a:xfrm>
            <a:off x="548650" y="1816785"/>
            <a:ext cx="6831326" cy="38462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8"/>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EDA — Numerical &amp; Categorical Relationships</a:t>
            </a:r>
            <a:endParaRPr b="0" i="0" sz="3000" u="none" cap="none" strike="noStrike">
              <a:solidFill>
                <a:schemeClr val="dk1"/>
              </a:solidFill>
              <a:latin typeface="Calibri"/>
              <a:ea typeface="Calibri"/>
              <a:cs typeface="Calibri"/>
              <a:sym typeface="Calibri"/>
            </a:endParaRPr>
          </a:p>
        </p:txBody>
      </p:sp>
      <p:pic>
        <p:nvPicPr>
          <p:cNvPr descr="/home/claude/extracted_images/fig05_numerical_vs_saleprice.jpg" id="196" name="Google Shape;196;p8"/>
          <p:cNvPicPr preferRelativeResize="0"/>
          <p:nvPr/>
        </p:nvPicPr>
        <p:blipFill rotWithShape="1">
          <a:blip r:embed="rId3">
            <a:alphaModFix/>
          </a:blip>
          <a:srcRect b="0" l="0" r="0" t="0"/>
          <a:stretch/>
        </p:blipFill>
        <p:spPr>
          <a:xfrm>
            <a:off x="548640" y="1463040"/>
            <a:ext cx="5440680" cy="2331720"/>
          </a:xfrm>
          <a:prstGeom prst="rect">
            <a:avLst/>
          </a:prstGeom>
          <a:noFill/>
          <a:ln>
            <a:noFill/>
          </a:ln>
        </p:spPr>
      </p:pic>
      <p:sp>
        <p:nvSpPr>
          <p:cNvPr id="197" name="Google Shape;197;p8"/>
          <p:cNvSpPr/>
          <p:nvPr/>
        </p:nvSpPr>
        <p:spPr>
          <a:xfrm>
            <a:off x="548640" y="3886200"/>
            <a:ext cx="54406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7293"/>
              </a:buClr>
              <a:buSzPts val="1200"/>
              <a:buFont typeface="Calibri"/>
              <a:buNone/>
            </a:pPr>
            <a:r>
              <a:rPr b="1" lang="en-US" sz="1200">
                <a:solidFill>
                  <a:srgbClr val="1C7293"/>
                </a:solidFill>
                <a:latin typeface="Calibri"/>
                <a:ea typeface="Calibri"/>
                <a:cs typeface="Calibri"/>
                <a:sym typeface="Calibri"/>
              </a:rPr>
              <a:t>Categorical</a:t>
            </a:r>
            <a:r>
              <a:rPr b="1" lang="en-US" sz="1200">
                <a:solidFill>
                  <a:srgbClr val="1C7293"/>
                </a:solidFill>
                <a:latin typeface="Calibri"/>
                <a:ea typeface="Calibri"/>
                <a:cs typeface="Calibri"/>
                <a:sym typeface="Calibri"/>
              </a:rPr>
              <a:t> </a:t>
            </a:r>
            <a:r>
              <a:rPr b="1" i="0" lang="en-US" sz="1200" u="none" cap="none" strike="noStrike">
                <a:solidFill>
                  <a:srgbClr val="1C7293"/>
                </a:solidFill>
                <a:latin typeface="Calibri"/>
                <a:ea typeface="Calibri"/>
                <a:cs typeface="Calibri"/>
                <a:sym typeface="Calibri"/>
              </a:rPr>
              <a:t> Features vs SalePrice</a:t>
            </a:r>
            <a:endParaRPr b="0" i="0" sz="1200" u="none" cap="none" strike="noStrike">
              <a:solidFill>
                <a:schemeClr val="dk1"/>
              </a:solidFill>
              <a:latin typeface="Calibri"/>
              <a:ea typeface="Calibri"/>
              <a:cs typeface="Calibri"/>
              <a:sym typeface="Calibri"/>
            </a:endParaRPr>
          </a:p>
        </p:txBody>
      </p:sp>
      <p:sp>
        <p:nvSpPr>
          <p:cNvPr id="198" name="Google Shape;198;p8"/>
          <p:cNvSpPr/>
          <p:nvPr/>
        </p:nvSpPr>
        <p:spPr>
          <a:xfrm>
            <a:off x="6172200" y="4095750"/>
            <a:ext cx="54408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7293"/>
              </a:buClr>
              <a:buSzPts val="1200"/>
              <a:buFont typeface="Calibri"/>
              <a:buNone/>
            </a:pPr>
            <a:r>
              <a:rPr b="1" lang="en-US" sz="1200">
                <a:solidFill>
                  <a:srgbClr val="1C7293"/>
                </a:solidFill>
                <a:latin typeface="Calibri"/>
                <a:ea typeface="Calibri"/>
                <a:cs typeface="Calibri"/>
                <a:sym typeface="Calibri"/>
              </a:rPr>
              <a:t>Numerical </a:t>
            </a:r>
            <a:r>
              <a:rPr b="1" i="0" lang="en-US" sz="1200" u="none" cap="none" strike="noStrike">
                <a:solidFill>
                  <a:srgbClr val="1C7293"/>
                </a:solidFill>
                <a:latin typeface="Calibri"/>
                <a:ea typeface="Calibri"/>
                <a:cs typeface="Calibri"/>
                <a:sym typeface="Calibri"/>
              </a:rPr>
              <a:t>Features vs SalePrice</a:t>
            </a:r>
            <a:endParaRPr b="0" i="0" sz="1200" u="none" cap="none" strike="noStrike">
              <a:solidFill>
                <a:schemeClr val="dk1"/>
              </a:solidFill>
              <a:latin typeface="Calibri"/>
              <a:ea typeface="Calibri"/>
              <a:cs typeface="Calibri"/>
              <a:sym typeface="Calibri"/>
            </a:endParaRPr>
          </a:p>
        </p:txBody>
      </p:sp>
      <p:sp>
        <p:nvSpPr>
          <p:cNvPr id="199" name="Google Shape;199;p8"/>
          <p:cNvSpPr/>
          <p:nvPr/>
        </p:nvSpPr>
        <p:spPr>
          <a:xfrm>
            <a:off x="548640" y="4343400"/>
            <a:ext cx="11091672" cy="19659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822960" y="4526280"/>
            <a:ext cx="1051560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A2430"/>
              </a:buClr>
              <a:buSzPts val="1250"/>
              <a:buFont typeface="Calibri"/>
              <a:buNone/>
            </a:pPr>
            <a:r>
              <a:rPr b="0" i="0" lang="en-US" sz="1250" u="none" cap="none" strike="noStrike">
                <a:solidFill>
                  <a:srgbClr val="1A2430"/>
                </a:solidFill>
                <a:latin typeface="Calibri"/>
                <a:ea typeface="Calibri"/>
                <a:cs typeface="Calibri"/>
                <a:sym typeface="Calibri"/>
              </a:rPr>
              <a:t>Scatter plots of GrLivArea, GarageArea, TotalBsmtSF, and 1stFlrSF revealed clear positive relationships with SalePrice. Box plots of OverallQual, GarageCars, and Neighborhood showed that quality indicators and location strongly affect price distributions — properties with better materials, garages, and finished basements tended to sell higher.</a:t>
            </a:r>
            <a:endParaRPr b="0" i="0" sz="1250" u="none" cap="none" strike="noStrike">
              <a:solidFill>
                <a:schemeClr val="dk1"/>
              </a:solidFill>
              <a:latin typeface="Calibri"/>
              <a:ea typeface="Calibri"/>
              <a:cs typeface="Calibri"/>
              <a:sym typeface="Calibri"/>
            </a:endParaRPr>
          </a:p>
        </p:txBody>
      </p:sp>
      <p:sp>
        <p:nvSpPr>
          <p:cNvPr id="201" name="Google Shape;201;p8"/>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202" name="Google Shape;202;p8"/>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pic>
        <p:nvPicPr>
          <p:cNvPr descr="/home/claude/extracted_images/fig04_correlation_heatmap.jpg" id="203" name="Google Shape;203;p8"/>
          <p:cNvPicPr preferRelativeResize="0"/>
          <p:nvPr/>
        </p:nvPicPr>
        <p:blipFill rotWithShape="1">
          <a:blip r:embed="rId4">
            <a:alphaModFix/>
          </a:blip>
          <a:srcRect b="0" l="0" r="0" t="0"/>
          <a:stretch/>
        </p:blipFill>
        <p:spPr>
          <a:xfrm>
            <a:off x="6570325" y="1002050"/>
            <a:ext cx="4895850" cy="29603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E4F"/>
        </a:solidFill>
      </p:bgPr>
    </p:bg>
    <p:spTree>
      <p:nvGrpSpPr>
        <p:cNvPr id="208" name="Shape 208"/>
        <p:cNvGrpSpPr/>
        <p:nvPr/>
      </p:nvGrpSpPr>
      <p:grpSpPr>
        <a:xfrm>
          <a:off x="0" y="0"/>
          <a:ext cx="0" cy="0"/>
          <a:chOff x="0" y="0"/>
          <a:chExt cx="0" cy="0"/>
        </a:xfrm>
      </p:grpSpPr>
      <p:sp>
        <p:nvSpPr>
          <p:cNvPr id="209" name="Google Shape;209;p9"/>
          <p:cNvSpPr/>
          <p:nvPr/>
        </p:nvSpPr>
        <p:spPr>
          <a:xfrm>
            <a:off x="548640" y="50292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Key EDA Findings</a:t>
            </a:r>
            <a:endParaRPr b="0" i="0" sz="3000" u="none" cap="none" strike="noStrike">
              <a:solidFill>
                <a:schemeClr val="dk1"/>
              </a:solidFill>
              <a:latin typeface="Calibri"/>
              <a:ea typeface="Calibri"/>
              <a:cs typeface="Calibri"/>
              <a:sym typeface="Calibri"/>
            </a:endParaRPr>
          </a:p>
        </p:txBody>
      </p:sp>
      <p:sp>
        <p:nvSpPr>
          <p:cNvPr id="210" name="Google Shape;210;p9"/>
          <p:cNvSpPr/>
          <p:nvPr/>
        </p:nvSpPr>
        <p:spPr>
          <a:xfrm>
            <a:off x="548640" y="109728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EF"/>
              </a:buClr>
              <a:buSzPts val="1400"/>
              <a:buFont typeface="Calibri"/>
              <a:buNone/>
            </a:pPr>
            <a:r>
              <a:rPr b="0" i="1" lang="en-US" sz="1400" u="none" cap="none" strike="noStrike">
                <a:solidFill>
                  <a:srgbClr val="CFE3EF"/>
                </a:solidFill>
                <a:latin typeface="Calibri"/>
                <a:ea typeface="Calibri"/>
                <a:cs typeface="Calibri"/>
                <a:sym typeface="Calibri"/>
              </a:rPr>
              <a:t>What the data told us</a:t>
            </a:r>
            <a:endParaRPr b="0" i="0" sz="1400" u="none" cap="none" strike="noStrike">
              <a:solidFill>
                <a:schemeClr val="dk1"/>
              </a:solidFill>
              <a:latin typeface="Calibri"/>
              <a:ea typeface="Calibri"/>
              <a:cs typeface="Calibri"/>
              <a:sym typeface="Calibri"/>
            </a:endParaRPr>
          </a:p>
        </p:txBody>
      </p:sp>
      <p:sp>
        <p:nvSpPr>
          <p:cNvPr id="211" name="Google Shape;211;p9"/>
          <p:cNvSpPr/>
          <p:nvPr/>
        </p:nvSpPr>
        <p:spPr>
          <a:xfrm>
            <a:off x="640080" y="1783080"/>
            <a:ext cx="502920" cy="50292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640080" y="1783080"/>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13" name="Google Shape;213;p9"/>
          <p:cNvSpPr/>
          <p:nvPr/>
        </p:nvSpPr>
        <p:spPr>
          <a:xfrm>
            <a:off x="1371600" y="1728216"/>
            <a:ext cx="98755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House quality is king</a:t>
            </a:r>
            <a:endParaRPr b="0" i="0" sz="1600" u="none" cap="none" strike="noStrike">
              <a:solidFill>
                <a:schemeClr val="dk1"/>
              </a:solidFill>
              <a:latin typeface="Calibri"/>
              <a:ea typeface="Calibri"/>
              <a:cs typeface="Calibri"/>
              <a:sym typeface="Calibri"/>
            </a:endParaRPr>
          </a:p>
        </p:txBody>
      </p:sp>
      <p:sp>
        <p:nvSpPr>
          <p:cNvPr id="214" name="Google Shape;214;p9"/>
          <p:cNvSpPr/>
          <p:nvPr/>
        </p:nvSpPr>
        <p:spPr>
          <a:xfrm>
            <a:off x="1371600" y="2148840"/>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6DF"/>
              </a:buClr>
              <a:buSzPts val="1250"/>
              <a:buFont typeface="Calibri"/>
              <a:buNone/>
            </a:pPr>
            <a:r>
              <a:rPr b="0" i="0" lang="en-US" sz="1250" u="none" cap="none" strike="noStrike">
                <a:solidFill>
                  <a:srgbClr val="C9D6DF"/>
                </a:solidFill>
                <a:latin typeface="Calibri"/>
                <a:ea typeface="Calibri"/>
                <a:cs typeface="Calibri"/>
                <a:sym typeface="Calibri"/>
              </a:rPr>
              <a:t>OverallQual was one of the strongest predictors of property value.</a:t>
            </a:r>
            <a:endParaRPr b="0" i="0" sz="1250" u="none" cap="none" strike="noStrike">
              <a:solidFill>
                <a:schemeClr val="dk1"/>
              </a:solidFill>
              <a:latin typeface="Calibri"/>
              <a:ea typeface="Calibri"/>
              <a:cs typeface="Calibri"/>
              <a:sym typeface="Calibri"/>
            </a:endParaRPr>
          </a:p>
        </p:txBody>
      </p:sp>
      <p:sp>
        <p:nvSpPr>
          <p:cNvPr id="215" name="Google Shape;215;p9"/>
          <p:cNvSpPr/>
          <p:nvPr/>
        </p:nvSpPr>
        <p:spPr>
          <a:xfrm>
            <a:off x="640080" y="2953512"/>
            <a:ext cx="502920" cy="5029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40080" y="2953512"/>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17" name="Google Shape;217;p9"/>
          <p:cNvSpPr/>
          <p:nvPr/>
        </p:nvSpPr>
        <p:spPr>
          <a:xfrm>
            <a:off x="1371600" y="2898648"/>
            <a:ext cx="98755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Size matters</a:t>
            </a:r>
            <a:endParaRPr b="0" i="0" sz="1600" u="none" cap="none" strike="noStrike">
              <a:solidFill>
                <a:schemeClr val="dk1"/>
              </a:solidFill>
              <a:latin typeface="Calibri"/>
              <a:ea typeface="Calibri"/>
              <a:cs typeface="Calibri"/>
              <a:sym typeface="Calibri"/>
            </a:endParaRPr>
          </a:p>
        </p:txBody>
      </p:sp>
      <p:sp>
        <p:nvSpPr>
          <p:cNvPr id="218" name="Google Shape;218;p9"/>
          <p:cNvSpPr/>
          <p:nvPr/>
        </p:nvSpPr>
        <p:spPr>
          <a:xfrm>
            <a:off x="1371600" y="3319272"/>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6DF"/>
              </a:buClr>
              <a:buSzPts val="1250"/>
              <a:buFont typeface="Calibri"/>
              <a:buNone/>
            </a:pPr>
            <a:r>
              <a:rPr b="0" i="0" lang="en-US" sz="1250" u="none" cap="none" strike="noStrike">
                <a:solidFill>
                  <a:srgbClr val="C9D6DF"/>
                </a:solidFill>
                <a:latin typeface="Calibri"/>
                <a:ea typeface="Calibri"/>
                <a:cs typeface="Calibri"/>
                <a:sym typeface="Calibri"/>
              </a:rPr>
              <a:t>Larger living areas generally corresponded to higher house prices.</a:t>
            </a:r>
            <a:endParaRPr b="0" i="0" sz="1250" u="none" cap="none" strike="noStrike">
              <a:solidFill>
                <a:schemeClr val="dk1"/>
              </a:solidFill>
              <a:latin typeface="Calibri"/>
              <a:ea typeface="Calibri"/>
              <a:cs typeface="Calibri"/>
              <a:sym typeface="Calibri"/>
            </a:endParaRPr>
          </a:p>
        </p:txBody>
      </p:sp>
      <p:sp>
        <p:nvSpPr>
          <p:cNvPr id="219" name="Google Shape;219;p9"/>
          <p:cNvSpPr/>
          <p:nvPr/>
        </p:nvSpPr>
        <p:spPr>
          <a:xfrm>
            <a:off x="640080" y="4123944"/>
            <a:ext cx="502920" cy="50292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640080" y="4123944"/>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21" name="Google Shape;221;p9"/>
          <p:cNvSpPr/>
          <p:nvPr/>
        </p:nvSpPr>
        <p:spPr>
          <a:xfrm>
            <a:off x="1371600" y="4069080"/>
            <a:ext cx="98755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Quality compounds</a:t>
            </a:r>
            <a:endParaRPr b="0" i="0" sz="1600" u="none" cap="none" strike="noStrike">
              <a:solidFill>
                <a:schemeClr val="dk1"/>
              </a:solidFill>
              <a:latin typeface="Calibri"/>
              <a:ea typeface="Calibri"/>
              <a:cs typeface="Calibri"/>
              <a:sym typeface="Calibri"/>
            </a:endParaRPr>
          </a:p>
        </p:txBody>
      </p:sp>
      <p:sp>
        <p:nvSpPr>
          <p:cNvPr id="222" name="Google Shape;222;p9"/>
          <p:cNvSpPr/>
          <p:nvPr/>
        </p:nvSpPr>
        <p:spPr>
          <a:xfrm>
            <a:off x="1371600" y="4489704"/>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6DF"/>
              </a:buClr>
              <a:buSzPts val="1250"/>
              <a:buFont typeface="Calibri"/>
              <a:buNone/>
            </a:pPr>
            <a:r>
              <a:rPr b="0" i="0" lang="en-US" sz="1250" u="none" cap="none" strike="noStrike">
                <a:solidFill>
                  <a:srgbClr val="C9D6DF"/>
                </a:solidFill>
                <a:latin typeface="Calibri"/>
                <a:ea typeface="Calibri"/>
                <a:cs typeface="Calibri"/>
                <a:sym typeface="Calibri"/>
              </a:rPr>
              <a:t>Better materials, garages, and finished basements meant higher selling prices.</a:t>
            </a:r>
            <a:endParaRPr b="0" i="0" sz="1250" u="none" cap="none" strike="noStrike">
              <a:solidFill>
                <a:schemeClr val="dk1"/>
              </a:solidFill>
              <a:latin typeface="Calibri"/>
              <a:ea typeface="Calibri"/>
              <a:cs typeface="Calibri"/>
              <a:sym typeface="Calibri"/>
            </a:endParaRPr>
          </a:p>
        </p:txBody>
      </p:sp>
      <p:sp>
        <p:nvSpPr>
          <p:cNvPr id="223" name="Google Shape;223;p9"/>
          <p:cNvSpPr/>
          <p:nvPr/>
        </p:nvSpPr>
        <p:spPr>
          <a:xfrm>
            <a:off x="640080" y="5294376"/>
            <a:ext cx="502920" cy="5029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640080" y="5294376"/>
            <a:ext cx="5029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a:t>
            </a:r>
            <a:endParaRPr b="0" i="0" sz="1650" u="none" cap="none" strike="noStrike">
              <a:solidFill>
                <a:schemeClr val="dk1"/>
              </a:solidFill>
              <a:latin typeface="Calibri"/>
              <a:ea typeface="Calibri"/>
              <a:cs typeface="Calibri"/>
              <a:sym typeface="Calibri"/>
            </a:endParaRPr>
          </a:p>
        </p:txBody>
      </p:sp>
      <p:sp>
        <p:nvSpPr>
          <p:cNvPr id="225" name="Google Shape;225;p9"/>
          <p:cNvSpPr/>
          <p:nvPr/>
        </p:nvSpPr>
        <p:spPr>
          <a:xfrm>
            <a:off x="1371600" y="5239512"/>
            <a:ext cx="98755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Location &amp; quality diverge</a:t>
            </a:r>
            <a:endParaRPr b="0" i="0" sz="1600" u="none" cap="none" strike="noStrike">
              <a:solidFill>
                <a:schemeClr val="dk1"/>
              </a:solidFill>
              <a:latin typeface="Calibri"/>
              <a:ea typeface="Calibri"/>
              <a:cs typeface="Calibri"/>
              <a:sym typeface="Calibri"/>
            </a:endParaRPr>
          </a:p>
        </p:txBody>
      </p:sp>
      <p:sp>
        <p:nvSpPr>
          <p:cNvPr id="226" name="Google Shape;226;p9"/>
          <p:cNvSpPr/>
          <p:nvPr/>
        </p:nvSpPr>
        <p:spPr>
          <a:xfrm>
            <a:off x="1371600" y="5660136"/>
            <a:ext cx="9875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D6DF"/>
              </a:buClr>
              <a:buSzPts val="1250"/>
              <a:buFont typeface="Calibri"/>
              <a:buNone/>
            </a:pPr>
            <a:r>
              <a:rPr b="0" i="0" lang="en-US" sz="1250" u="none" cap="none" strike="noStrike">
                <a:solidFill>
                  <a:srgbClr val="C9D6DF"/>
                </a:solidFill>
                <a:latin typeface="Calibri"/>
                <a:ea typeface="Calibri"/>
                <a:cs typeface="Calibri"/>
                <a:sym typeface="Calibri"/>
              </a:rPr>
              <a:t>Neighborhood and quality attributes showed significant differences in price distributions.</a:t>
            </a:r>
            <a:endParaRPr b="0" i="0" sz="1250" u="none" cap="none" strike="noStrike">
              <a:solidFill>
                <a:schemeClr val="dk1"/>
              </a:solidFill>
              <a:latin typeface="Calibri"/>
              <a:ea typeface="Calibri"/>
              <a:cs typeface="Calibri"/>
              <a:sym typeface="Calibri"/>
            </a:endParaRPr>
          </a:p>
        </p:txBody>
      </p:sp>
      <p:sp>
        <p:nvSpPr>
          <p:cNvPr id="227" name="Google Shape;227;p9"/>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228" name="Google Shape;228;p9"/>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0"/>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Feature Engineering</a:t>
            </a:r>
            <a:endParaRPr b="0" i="0" sz="3000" u="none" cap="none" strike="noStrike">
              <a:solidFill>
                <a:schemeClr val="dk1"/>
              </a:solidFill>
              <a:latin typeface="Calibri"/>
              <a:ea typeface="Calibri"/>
              <a:cs typeface="Calibri"/>
              <a:sym typeface="Calibri"/>
            </a:endParaRPr>
          </a:p>
        </p:txBody>
      </p:sp>
      <p:sp>
        <p:nvSpPr>
          <p:cNvPr id="235" name="Google Shape;235;p10"/>
          <p:cNvSpPr/>
          <p:nvPr/>
        </p:nvSpPr>
        <p:spPr>
          <a:xfrm>
            <a:off x="548640" y="96012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Turning raw attributes into higher-signal predictors</a:t>
            </a:r>
            <a:endParaRPr b="0" i="0" sz="1400" u="none" cap="none" strike="noStrike">
              <a:solidFill>
                <a:schemeClr val="dk1"/>
              </a:solidFill>
              <a:latin typeface="Calibri"/>
              <a:ea typeface="Calibri"/>
              <a:cs typeface="Calibri"/>
              <a:sym typeface="Calibri"/>
            </a:endParaRPr>
          </a:p>
        </p:txBody>
      </p:sp>
      <p:graphicFrame>
        <p:nvGraphicFramePr>
          <p:cNvPr id="236" name="Google Shape;236;p10"/>
          <p:cNvGraphicFramePr/>
          <p:nvPr/>
        </p:nvGraphicFramePr>
        <p:xfrm>
          <a:off x="548640" y="1554480"/>
          <a:ext cx="3000000" cy="3000000"/>
        </p:xfrm>
        <a:graphic>
          <a:graphicData uri="http://schemas.openxmlformats.org/drawingml/2006/table">
            <a:tbl>
              <a:tblPr>
                <a:noFill/>
                <a:tableStyleId>{9D2C8AE6-1140-4E10-B22F-B4D3AC9BE55D}</a:tableStyleId>
              </a:tblPr>
              <a:tblGrid>
                <a:gridCol w="5545825"/>
                <a:gridCol w="5545825"/>
              </a:tblGrid>
              <a:tr h="5029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Original Features</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0B2E4F"/>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Engineered Feature</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0B2E4F"/>
                    </a:solidFill>
                  </a:tcPr>
                </a:tc>
              </a:tr>
              <a:tr h="502925">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TotalBsmtSF + 1stFlrSF + 2ndFlrSF</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TotalSF — total </a:t>
                      </a:r>
                      <a:r>
                        <a:rPr lang="en-US" sz="1200">
                          <a:solidFill>
                            <a:srgbClr val="1A2430"/>
                          </a:solidFill>
                          <a:latin typeface="Calibri"/>
                          <a:ea typeface="Calibri"/>
                          <a:cs typeface="Calibri"/>
                          <a:sym typeface="Calibri"/>
                        </a:rPr>
                        <a:t>square feet</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FullBath + 0.5×HalfBath + Bsmt baths</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TotalBathrooms — weighted bathroom count</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r>
              <a:tr h="502925">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YrSold − YearBuilt</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HouseAge — age at time of sale</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YrSold − YearRemodAdd</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YearsSinceRemodel — time since renovation</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r>
              <a:tr h="502925">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Porch &amp; deck features combined</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TotalPorchSF — total outdoor living space</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OverallQual × GrLivArea</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QualityLivingArea — quality-size interaction</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r>
              <a:tr h="502925">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GarageCars × GarageArea</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430"/>
                        </a:buClr>
                        <a:buSzPts val="1200"/>
                        <a:buFont typeface="Calibri"/>
                        <a:buNone/>
                      </a:pPr>
                      <a:r>
                        <a:rPr lang="en-US" sz="1200" u="none" cap="none" strike="noStrike">
                          <a:solidFill>
                            <a:srgbClr val="1A2430"/>
                          </a:solidFill>
                          <a:latin typeface="Calibri"/>
                          <a:ea typeface="Calibri"/>
                          <a:cs typeface="Calibri"/>
                          <a:sym typeface="Calibri"/>
                        </a:rPr>
                        <a:t>GarageScore — garage capacity &amp; size combined</a:t>
                      </a:r>
                      <a:endParaRPr sz="12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r>
            </a:tbl>
          </a:graphicData>
        </a:graphic>
      </p:graphicFrame>
      <p:sp>
        <p:nvSpPr>
          <p:cNvPr id="237" name="Google Shape;237;p10"/>
          <p:cNvSpPr/>
          <p:nvPr/>
        </p:nvSpPr>
        <p:spPr>
          <a:xfrm>
            <a:off x="548640" y="5989320"/>
            <a:ext cx="11091672" cy="4572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822960" y="598932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150"/>
              <a:buFont typeface="Calibri"/>
              <a:buNone/>
            </a:pPr>
            <a:r>
              <a:rPr b="0" i="1" lang="en-US" sz="1150" u="none" cap="none" strike="noStrike">
                <a:solidFill>
                  <a:srgbClr val="1C7293"/>
                </a:solidFill>
                <a:latin typeface="Calibri"/>
                <a:ea typeface="Calibri"/>
                <a:cs typeface="Calibri"/>
                <a:sym typeface="Calibri"/>
              </a:rPr>
              <a:t>QualityLivingArea and TotalSF emerged as the two most influential engineered features in the final model.</a:t>
            </a:r>
            <a:endParaRPr b="0" i="0" sz="1150" u="none" cap="none" strike="noStrike">
              <a:solidFill>
                <a:schemeClr val="dk1"/>
              </a:solidFill>
              <a:latin typeface="Calibri"/>
              <a:ea typeface="Calibri"/>
              <a:cs typeface="Calibri"/>
              <a:sym typeface="Calibri"/>
            </a:endParaRPr>
          </a:p>
        </p:txBody>
      </p:sp>
      <p:sp>
        <p:nvSpPr>
          <p:cNvPr id="239" name="Google Shape;239;p10"/>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240" name="Google Shape;240;p10"/>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1"/>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Regression Algorithms Evaluated</a:t>
            </a:r>
            <a:endParaRPr b="0" i="0" sz="3000" u="none" cap="none" strike="noStrike">
              <a:solidFill>
                <a:schemeClr val="dk1"/>
              </a:solidFill>
              <a:latin typeface="Calibri"/>
              <a:ea typeface="Calibri"/>
              <a:cs typeface="Calibri"/>
              <a:sym typeface="Calibri"/>
            </a:endParaRPr>
          </a:p>
        </p:txBody>
      </p:sp>
      <p:sp>
        <p:nvSpPr>
          <p:cNvPr id="247" name="Google Shape;247;p11"/>
          <p:cNvSpPr/>
          <p:nvPr/>
        </p:nvSpPr>
        <p:spPr>
          <a:xfrm>
            <a:off x="548640" y="96012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Linear, tree-based, ensemble, and gradient boosting approaches</a:t>
            </a:r>
            <a:endParaRPr b="0" i="0" sz="1400" u="none" cap="none" strike="noStrike">
              <a:solidFill>
                <a:schemeClr val="dk1"/>
              </a:solidFill>
              <a:latin typeface="Calibri"/>
              <a:ea typeface="Calibri"/>
              <a:cs typeface="Calibri"/>
              <a:sym typeface="Calibri"/>
            </a:endParaRPr>
          </a:p>
        </p:txBody>
      </p:sp>
      <p:sp>
        <p:nvSpPr>
          <p:cNvPr id="248" name="Google Shape;248;p11"/>
          <p:cNvSpPr/>
          <p:nvPr/>
        </p:nvSpPr>
        <p:spPr>
          <a:xfrm>
            <a:off x="548640" y="1554480"/>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731520" y="1424940"/>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Linear Regression</a:t>
            </a:r>
            <a:endParaRPr b="0" i="0" sz="1350" u="none" cap="none" strike="noStrike">
              <a:solidFill>
                <a:schemeClr val="dk1"/>
              </a:solidFill>
              <a:latin typeface="Calibri"/>
              <a:ea typeface="Calibri"/>
              <a:cs typeface="Calibri"/>
              <a:sym typeface="Calibri"/>
            </a:endParaRPr>
          </a:p>
        </p:txBody>
      </p:sp>
      <p:sp>
        <p:nvSpPr>
          <p:cNvPr id="250" name="Google Shape;250;p11"/>
          <p:cNvSpPr/>
          <p:nvPr/>
        </p:nvSpPr>
        <p:spPr>
          <a:xfrm>
            <a:off x="731520" y="1814322"/>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Baseline model</a:t>
            </a:r>
            <a:endParaRPr b="0" i="0" sz="1050" u="none" cap="none" strike="noStrike">
              <a:solidFill>
                <a:schemeClr val="dk1"/>
              </a:solidFill>
              <a:latin typeface="Calibri"/>
              <a:ea typeface="Calibri"/>
              <a:cs typeface="Calibri"/>
              <a:sym typeface="Calibri"/>
            </a:endParaRPr>
          </a:p>
        </p:txBody>
      </p:sp>
      <p:sp>
        <p:nvSpPr>
          <p:cNvPr id="251" name="Google Shape;251;p11"/>
          <p:cNvSpPr/>
          <p:nvPr/>
        </p:nvSpPr>
        <p:spPr>
          <a:xfrm>
            <a:off x="4270248" y="1554480"/>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4453128" y="1501140"/>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Ridge Regression</a:t>
            </a:r>
            <a:endParaRPr b="0" i="0" sz="1350" u="none" cap="none" strike="noStrike">
              <a:solidFill>
                <a:schemeClr val="dk1"/>
              </a:solidFill>
              <a:latin typeface="Calibri"/>
              <a:ea typeface="Calibri"/>
              <a:cs typeface="Calibri"/>
              <a:sym typeface="Calibri"/>
            </a:endParaRPr>
          </a:p>
        </p:txBody>
      </p:sp>
      <p:sp>
        <p:nvSpPr>
          <p:cNvPr id="253" name="Google Shape;253;p11"/>
          <p:cNvSpPr/>
          <p:nvPr/>
        </p:nvSpPr>
        <p:spPr>
          <a:xfrm>
            <a:off x="4453128" y="1852422"/>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L2 regularization, α = 1.0</a:t>
            </a:r>
            <a:endParaRPr b="0" i="0" sz="1050" u="none" cap="none" strike="noStrike">
              <a:solidFill>
                <a:schemeClr val="dk1"/>
              </a:solidFill>
              <a:latin typeface="Calibri"/>
              <a:ea typeface="Calibri"/>
              <a:cs typeface="Calibri"/>
              <a:sym typeface="Calibri"/>
            </a:endParaRPr>
          </a:p>
        </p:txBody>
      </p:sp>
      <p:sp>
        <p:nvSpPr>
          <p:cNvPr id="254" name="Google Shape;254;p11"/>
          <p:cNvSpPr/>
          <p:nvPr/>
        </p:nvSpPr>
        <p:spPr>
          <a:xfrm>
            <a:off x="7991856" y="1554480"/>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8174736" y="1558290"/>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Lasso Regression</a:t>
            </a:r>
            <a:endParaRPr b="0" i="0" sz="1350" u="none" cap="none" strike="noStrike">
              <a:solidFill>
                <a:schemeClr val="dk1"/>
              </a:solidFill>
              <a:latin typeface="Calibri"/>
              <a:ea typeface="Calibri"/>
              <a:cs typeface="Calibri"/>
              <a:sym typeface="Calibri"/>
            </a:endParaRPr>
          </a:p>
        </p:txBody>
      </p:sp>
      <p:sp>
        <p:nvSpPr>
          <p:cNvPr id="256" name="Google Shape;256;p11"/>
          <p:cNvSpPr/>
          <p:nvPr/>
        </p:nvSpPr>
        <p:spPr>
          <a:xfrm>
            <a:off x="8174736" y="2004822"/>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L1 regularization, α = 0.001</a:t>
            </a:r>
            <a:endParaRPr b="0" i="0" sz="1050" u="none" cap="none" strike="noStrike">
              <a:solidFill>
                <a:schemeClr val="dk1"/>
              </a:solidFill>
              <a:latin typeface="Calibri"/>
              <a:ea typeface="Calibri"/>
              <a:cs typeface="Calibri"/>
              <a:sym typeface="Calibri"/>
            </a:endParaRPr>
          </a:p>
        </p:txBody>
      </p:sp>
      <p:sp>
        <p:nvSpPr>
          <p:cNvPr id="257" name="Google Shape;257;p11"/>
          <p:cNvSpPr/>
          <p:nvPr/>
        </p:nvSpPr>
        <p:spPr>
          <a:xfrm>
            <a:off x="548640" y="3090672"/>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731520" y="2561082"/>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Decision Tree</a:t>
            </a:r>
            <a:endParaRPr b="0" i="0" sz="1350" u="none" cap="none" strike="noStrike">
              <a:solidFill>
                <a:schemeClr val="dk1"/>
              </a:solidFill>
              <a:latin typeface="Calibri"/>
              <a:ea typeface="Calibri"/>
              <a:cs typeface="Calibri"/>
              <a:sym typeface="Calibri"/>
            </a:endParaRPr>
          </a:p>
        </p:txBody>
      </p:sp>
      <p:sp>
        <p:nvSpPr>
          <p:cNvPr id="259" name="Google Shape;259;p11"/>
          <p:cNvSpPr/>
          <p:nvPr/>
        </p:nvSpPr>
        <p:spPr>
          <a:xfrm>
            <a:off x="731520" y="3064764"/>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Recursive feature splitting</a:t>
            </a:r>
            <a:endParaRPr b="0" i="0" sz="1050" u="none" cap="none" strike="noStrike">
              <a:solidFill>
                <a:schemeClr val="dk1"/>
              </a:solidFill>
              <a:latin typeface="Calibri"/>
              <a:ea typeface="Calibri"/>
              <a:cs typeface="Calibri"/>
              <a:sym typeface="Calibri"/>
            </a:endParaRPr>
          </a:p>
        </p:txBody>
      </p:sp>
      <p:sp>
        <p:nvSpPr>
          <p:cNvPr id="260" name="Google Shape;260;p11"/>
          <p:cNvSpPr/>
          <p:nvPr/>
        </p:nvSpPr>
        <p:spPr>
          <a:xfrm>
            <a:off x="4270248" y="3090672"/>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4453128" y="2580132"/>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Random Forest</a:t>
            </a:r>
            <a:endParaRPr b="0" i="0" sz="1350" u="none" cap="none" strike="noStrike">
              <a:solidFill>
                <a:schemeClr val="dk1"/>
              </a:solidFill>
              <a:latin typeface="Calibri"/>
              <a:ea typeface="Calibri"/>
              <a:cs typeface="Calibri"/>
              <a:sym typeface="Calibri"/>
            </a:endParaRPr>
          </a:p>
        </p:txBody>
      </p:sp>
      <p:sp>
        <p:nvSpPr>
          <p:cNvPr id="262" name="Google Shape;262;p11"/>
          <p:cNvSpPr/>
          <p:nvPr/>
        </p:nvSpPr>
        <p:spPr>
          <a:xfrm>
            <a:off x="4453128" y="3121914"/>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200 trees, ensemble variance reduction</a:t>
            </a:r>
            <a:endParaRPr b="0" i="0" sz="1050" u="none" cap="none" strike="noStrike">
              <a:solidFill>
                <a:schemeClr val="dk1"/>
              </a:solidFill>
              <a:latin typeface="Calibri"/>
              <a:ea typeface="Calibri"/>
              <a:cs typeface="Calibri"/>
              <a:sym typeface="Calibri"/>
            </a:endParaRPr>
          </a:p>
        </p:txBody>
      </p:sp>
      <p:sp>
        <p:nvSpPr>
          <p:cNvPr id="263" name="Google Shape;263;p11"/>
          <p:cNvSpPr/>
          <p:nvPr/>
        </p:nvSpPr>
        <p:spPr>
          <a:xfrm>
            <a:off x="7991856" y="3090672"/>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8174736" y="2656332"/>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Extra Trees</a:t>
            </a:r>
            <a:endParaRPr b="0" i="0" sz="1350" u="none" cap="none" strike="noStrike">
              <a:solidFill>
                <a:schemeClr val="dk1"/>
              </a:solidFill>
              <a:latin typeface="Calibri"/>
              <a:ea typeface="Calibri"/>
              <a:cs typeface="Calibri"/>
              <a:sym typeface="Calibri"/>
            </a:endParaRPr>
          </a:p>
        </p:txBody>
      </p:sp>
      <p:sp>
        <p:nvSpPr>
          <p:cNvPr id="265" name="Google Shape;265;p11"/>
          <p:cNvSpPr/>
          <p:nvPr/>
        </p:nvSpPr>
        <p:spPr>
          <a:xfrm>
            <a:off x="8174736" y="3102864"/>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Extra randomness for generalization</a:t>
            </a:r>
            <a:endParaRPr b="0" i="0" sz="1050" u="none" cap="none" strike="noStrike">
              <a:solidFill>
                <a:schemeClr val="dk1"/>
              </a:solidFill>
              <a:latin typeface="Calibri"/>
              <a:ea typeface="Calibri"/>
              <a:cs typeface="Calibri"/>
              <a:sym typeface="Calibri"/>
            </a:endParaRPr>
          </a:p>
        </p:txBody>
      </p:sp>
      <p:sp>
        <p:nvSpPr>
          <p:cNvPr id="266" name="Google Shape;266;p11"/>
          <p:cNvSpPr/>
          <p:nvPr/>
        </p:nvSpPr>
        <p:spPr>
          <a:xfrm>
            <a:off x="548640" y="4626864"/>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a:off x="731520" y="3697224"/>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Gradient Boosting</a:t>
            </a:r>
            <a:endParaRPr b="0" i="0" sz="1350" u="none" cap="none" strike="noStrike">
              <a:solidFill>
                <a:schemeClr val="dk1"/>
              </a:solidFill>
              <a:latin typeface="Calibri"/>
              <a:ea typeface="Calibri"/>
              <a:cs typeface="Calibri"/>
              <a:sym typeface="Calibri"/>
            </a:endParaRPr>
          </a:p>
        </p:txBody>
      </p:sp>
      <p:sp>
        <p:nvSpPr>
          <p:cNvPr id="268" name="Google Shape;268;p11"/>
          <p:cNvSpPr/>
          <p:nvPr/>
        </p:nvSpPr>
        <p:spPr>
          <a:xfrm>
            <a:off x="731520" y="3991356"/>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Sequential error correction</a:t>
            </a:r>
            <a:endParaRPr b="0" i="0" sz="1050" u="none" cap="none" strike="noStrike">
              <a:solidFill>
                <a:schemeClr val="dk1"/>
              </a:solidFill>
              <a:latin typeface="Calibri"/>
              <a:ea typeface="Calibri"/>
              <a:cs typeface="Calibri"/>
              <a:sym typeface="Calibri"/>
            </a:endParaRPr>
          </a:p>
        </p:txBody>
      </p:sp>
      <p:sp>
        <p:nvSpPr>
          <p:cNvPr id="269" name="Google Shape;269;p11"/>
          <p:cNvSpPr/>
          <p:nvPr/>
        </p:nvSpPr>
        <p:spPr>
          <a:xfrm>
            <a:off x="4270248" y="4626864"/>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4453128" y="3735324"/>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AdaBoost</a:t>
            </a:r>
            <a:endParaRPr b="0" i="0" sz="1350" u="none" cap="none" strike="noStrike">
              <a:solidFill>
                <a:schemeClr val="dk1"/>
              </a:solidFill>
              <a:latin typeface="Calibri"/>
              <a:ea typeface="Calibri"/>
              <a:cs typeface="Calibri"/>
              <a:sym typeface="Calibri"/>
            </a:endParaRPr>
          </a:p>
        </p:txBody>
      </p:sp>
      <p:sp>
        <p:nvSpPr>
          <p:cNvPr id="271" name="Google Shape;271;p11"/>
          <p:cNvSpPr/>
          <p:nvPr/>
        </p:nvSpPr>
        <p:spPr>
          <a:xfrm>
            <a:off x="4453128" y="4048506"/>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Focuses on difficult samples</a:t>
            </a:r>
            <a:endParaRPr b="0" i="0" sz="1050" u="none" cap="none" strike="noStrike">
              <a:solidFill>
                <a:schemeClr val="dk1"/>
              </a:solidFill>
              <a:latin typeface="Calibri"/>
              <a:ea typeface="Calibri"/>
              <a:cs typeface="Calibri"/>
              <a:sym typeface="Calibri"/>
            </a:endParaRPr>
          </a:p>
        </p:txBody>
      </p:sp>
      <p:sp>
        <p:nvSpPr>
          <p:cNvPr id="272" name="Google Shape;272;p11"/>
          <p:cNvSpPr/>
          <p:nvPr/>
        </p:nvSpPr>
        <p:spPr>
          <a:xfrm>
            <a:off x="7991856" y="4626864"/>
            <a:ext cx="3602736" cy="141732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8174736" y="3697224"/>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SVR </a:t>
            </a:r>
            <a:endParaRPr b="0" i="0" sz="1350" u="none" cap="none" strike="noStrike">
              <a:solidFill>
                <a:schemeClr val="dk1"/>
              </a:solidFill>
              <a:latin typeface="Calibri"/>
              <a:ea typeface="Calibri"/>
              <a:cs typeface="Calibri"/>
              <a:sym typeface="Calibri"/>
            </a:endParaRPr>
          </a:p>
        </p:txBody>
      </p:sp>
      <p:sp>
        <p:nvSpPr>
          <p:cNvPr id="274" name="Google Shape;274;p11"/>
          <p:cNvSpPr/>
          <p:nvPr/>
        </p:nvSpPr>
        <p:spPr>
          <a:xfrm>
            <a:off x="8174736" y="4067556"/>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lang="en-US" sz="1050">
                <a:solidFill>
                  <a:srgbClr val="5B6B79"/>
                </a:solidFill>
                <a:latin typeface="Calibri"/>
                <a:ea typeface="Calibri"/>
                <a:cs typeface="Calibri"/>
                <a:sym typeface="Calibri"/>
              </a:rPr>
              <a:t>HYperplane</a:t>
            </a:r>
            <a:endParaRPr b="0" i="0" sz="1050" u="none" cap="none" strike="noStrike">
              <a:solidFill>
                <a:schemeClr val="dk1"/>
              </a:solidFill>
              <a:latin typeface="Calibri"/>
              <a:ea typeface="Calibri"/>
              <a:cs typeface="Calibri"/>
              <a:sym typeface="Calibri"/>
            </a:endParaRPr>
          </a:p>
        </p:txBody>
      </p:sp>
      <p:sp>
        <p:nvSpPr>
          <p:cNvPr id="275" name="Google Shape;275;p11"/>
          <p:cNvSpPr/>
          <p:nvPr/>
        </p:nvSpPr>
        <p:spPr>
          <a:xfrm>
            <a:off x="731520" y="5100066"/>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XGBoost</a:t>
            </a:r>
            <a:endParaRPr b="0" i="0" sz="1350" u="none" cap="none" strike="noStrike">
              <a:solidFill>
                <a:schemeClr val="dk1"/>
              </a:solidFill>
              <a:latin typeface="Calibri"/>
              <a:ea typeface="Calibri"/>
              <a:cs typeface="Calibri"/>
              <a:sym typeface="Calibri"/>
            </a:endParaRPr>
          </a:p>
        </p:txBody>
      </p:sp>
      <p:sp>
        <p:nvSpPr>
          <p:cNvPr id="276" name="Google Shape;276;p11"/>
          <p:cNvSpPr/>
          <p:nvPr/>
        </p:nvSpPr>
        <p:spPr>
          <a:xfrm>
            <a:off x="731520" y="5413248"/>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400 estimators, tuned depth &amp; subsampling</a:t>
            </a:r>
            <a:endParaRPr b="0" i="0" sz="1050" u="none" cap="none" strike="noStrike">
              <a:solidFill>
                <a:schemeClr val="dk1"/>
              </a:solidFill>
              <a:latin typeface="Calibri"/>
              <a:ea typeface="Calibri"/>
              <a:cs typeface="Calibri"/>
              <a:sym typeface="Calibri"/>
            </a:endParaRPr>
          </a:p>
        </p:txBody>
      </p:sp>
      <p:sp>
        <p:nvSpPr>
          <p:cNvPr id="277" name="Google Shape;277;p11"/>
          <p:cNvSpPr/>
          <p:nvPr/>
        </p:nvSpPr>
        <p:spPr>
          <a:xfrm>
            <a:off x="4453128" y="5195316"/>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libri"/>
              <a:buNone/>
            </a:pPr>
            <a:r>
              <a:rPr b="1" i="0" lang="en-US" sz="1350" u="none" cap="none" strike="noStrike">
                <a:solidFill>
                  <a:srgbClr val="0B2E4F"/>
                </a:solidFill>
                <a:latin typeface="Calibri"/>
                <a:ea typeface="Calibri"/>
                <a:cs typeface="Calibri"/>
                <a:sym typeface="Calibri"/>
              </a:rPr>
              <a:t>LightGBM</a:t>
            </a:r>
            <a:endParaRPr b="0" i="0" sz="1350" u="none" cap="none" strike="noStrike">
              <a:solidFill>
                <a:schemeClr val="dk1"/>
              </a:solidFill>
              <a:latin typeface="Calibri"/>
              <a:ea typeface="Calibri"/>
              <a:cs typeface="Calibri"/>
              <a:sym typeface="Calibri"/>
            </a:endParaRPr>
          </a:p>
        </p:txBody>
      </p:sp>
      <p:sp>
        <p:nvSpPr>
          <p:cNvPr id="278" name="Google Shape;278;p11"/>
          <p:cNvSpPr/>
          <p:nvPr/>
        </p:nvSpPr>
        <p:spPr>
          <a:xfrm>
            <a:off x="4453128" y="5527548"/>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050"/>
              <a:buFont typeface="Calibri"/>
              <a:buNone/>
            </a:pPr>
            <a:r>
              <a:rPr b="0" i="0" lang="en-US" sz="1050" u="none" cap="none" strike="noStrike">
                <a:solidFill>
                  <a:srgbClr val="5B6B79"/>
                </a:solidFill>
                <a:latin typeface="Calibri"/>
                <a:ea typeface="Calibri"/>
                <a:cs typeface="Calibri"/>
                <a:sym typeface="Calibri"/>
              </a:rPr>
              <a:t>500 estimators, efficient tree boosting</a:t>
            </a:r>
            <a:endParaRPr b="0" i="0" sz="1050" u="none" cap="none" strike="noStrike">
              <a:solidFill>
                <a:schemeClr val="dk1"/>
              </a:solidFill>
              <a:latin typeface="Calibri"/>
              <a:ea typeface="Calibri"/>
              <a:cs typeface="Calibri"/>
              <a:sym typeface="Calibri"/>
            </a:endParaRPr>
          </a:p>
        </p:txBody>
      </p:sp>
      <p:sp>
        <p:nvSpPr>
          <p:cNvPr id="279" name="Google Shape;279;p11"/>
          <p:cNvSpPr/>
          <p:nvPr/>
        </p:nvSpPr>
        <p:spPr>
          <a:xfrm>
            <a:off x="7991856" y="4810506"/>
            <a:ext cx="3602700" cy="1417200"/>
          </a:xfrm>
          <a:prstGeom prst="rect">
            <a:avLst/>
          </a:prstGeom>
          <a:solidFill>
            <a:srgbClr val="0B2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8174736" y="5309616"/>
            <a:ext cx="3237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350"/>
              <a:buFont typeface="Calibri"/>
              <a:buNone/>
            </a:pPr>
            <a:r>
              <a:rPr b="1" i="0" lang="en-US" sz="1350" u="none" cap="none" strike="noStrike">
                <a:solidFill>
                  <a:srgbClr val="E8871E"/>
                </a:solidFill>
                <a:latin typeface="Calibri"/>
                <a:ea typeface="Calibri"/>
                <a:cs typeface="Calibri"/>
                <a:sym typeface="Calibri"/>
              </a:rPr>
              <a:t>CatBoost ⭐</a:t>
            </a:r>
            <a:endParaRPr b="0" i="0" sz="1350" u="none" cap="none" strike="noStrike">
              <a:solidFill>
                <a:schemeClr val="dk1"/>
              </a:solidFill>
              <a:latin typeface="Calibri"/>
              <a:ea typeface="Calibri"/>
              <a:cs typeface="Calibri"/>
              <a:sym typeface="Calibri"/>
            </a:endParaRPr>
          </a:p>
        </p:txBody>
      </p:sp>
      <p:sp>
        <p:nvSpPr>
          <p:cNvPr id="281" name="Google Shape;281;p11"/>
          <p:cNvSpPr/>
          <p:nvPr/>
        </p:nvSpPr>
        <p:spPr>
          <a:xfrm>
            <a:off x="8174736" y="5584698"/>
            <a:ext cx="3237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EF"/>
              </a:buClr>
              <a:buSzPts val="1050"/>
              <a:buFont typeface="Calibri"/>
              <a:buNone/>
            </a:pPr>
            <a:r>
              <a:rPr b="0" i="0" lang="en-US" sz="1050" u="none" cap="none" strike="noStrike">
                <a:solidFill>
                  <a:srgbClr val="CFE3EF"/>
                </a:solidFill>
                <a:latin typeface="Calibri"/>
                <a:ea typeface="Calibri"/>
                <a:cs typeface="Calibri"/>
                <a:sym typeface="Calibri"/>
              </a:rPr>
              <a:t>Optimized for categorical &amp; tabular data</a:t>
            </a:r>
            <a:endParaRPr b="0" i="0" sz="1050" u="none" cap="none" strike="noStrike">
              <a:solidFill>
                <a:schemeClr val="dk1"/>
              </a:solidFill>
              <a:latin typeface="Calibri"/>
              <a:ea typeface="Calibri"/>
              <a:cs typeface="Calibri"/>
              <a:sym typeface="Calibri"/>
            </a:endParaRPr>
          </a:p>
        </p:txBody>
      </p:sp>
      <p:sp>
        <p:nvSpPr>
          <p:cNvPr id="282" name="Google Shape;282;p11"/>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2"/>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Hyperparameter Tuning</a:t>
            </a:r>
            <a:endParaRPr b="0" i="0" sz="3000" u="none" cap="none" strike="noStrike">
              <a:solidFill>
                <a:schemeClr val="dk1"/>
              </a:solidFill>
              <a:latin typeface="Calibri"/>
              <a:ea typeface="Calibri"/>
              <a:cs typeface="Calibri"/>
              <a:sym typeface="Calibri"/>
            </a:endParaRPr>
          </a:p>
        </p:txBody>
      </p:sp>
      <p:sp>
        <p:nvSpPr>
          <p:cNvPr id="289" name="Google Shape;289;p12"/>
          <p:cNvSpPr/>
          <p:nvPr/>
        </p:nvSpPr>
        <p:spPr>
          <a:xfrm>
            <a:off x="548640" y="96012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GridSearchCV with 5-fold cross-validation on CatBoost</a:t>
            </a:r>
            <a:endParaRPr b="0" i="0" sz="1400" u="none" cap="none" strike="noStrike">
              <a:solidFill>
                <a:schemeClr val="dk1"/>
              </a:solidFill>
              <a:latin typeface="Calibri"/>
              <a:ea typeface="Calibri"/>
              <a:cs typeface="Calibri"/>
              <a:sym typeface="Calibri"/>
            </a:endParaRPr>
          </a:p>
        </p:txBody>
      </p:sp>
      <p:graphicFrame>
        <p:nvGraphicFramePr>
          <p:cNvPr id="290" name="Google Shape;290;p12"/>
          <p:cNvGraphicFramePr/>
          <p:nvPr/>
        </p:nvGraphicFramePr>
        <p:xfrm>
          <a:off x="548640" y="1600200"/>
          <a:ext cx="3000000" cy="3000000"/>
        </p:xfrm>
        <a:graphic>
          <a:graphicData uri="http://schemas.openxmlformats.org/drawingml/2006/table">
            <a:tbl>
              <a:tblPr>
                <a:noFill/>
                <a:tableStyleId>{9D2C8AE6-1140-4E10-B22F-B4D3AC9BE55D}</a:tableStyleId>
              </a:tblPr>
              <a:tblGrid>
                <a:gridCol w="2880350"/>
                <a:gridCol w="2880350"/>
              </a:tblGrid>
              <a:tr h="50292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Parameter</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0B2E4F"/>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Search Values</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0B2E4F"/>
                    </a:solidFill>
                  </a:tcPr>
                </a:tc>
              </a:tr>
              <a:tr h="502925">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Iterations</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500(a chain of 500 trees )</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Learning Rate</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0.03, 0.05, 0.07</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r>
              <a:tr h="502925">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Tree Depth</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3, 4</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L2 Regularization</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A2430"/>
                        </a:buClr>
                        <a:buSzPts val="1300"/>
                        <a:buFont typeface="Calibri"/>
                        <a:buNone/>
                      </a:pPr>
                      <a:r>
                        <a:rPr lang="en-US" sz="1300" u="none" cap="none" strike="noStrike">
                          <a:solidFill>
                            <a:srgbClr val="1A2430"/>
                          </a:solidFill>
                          <a:latin typeface="Calibri"/>
                          <a:ea typeface="Calibri"/>
                          <a:cs typeface="Calibri"/>
                          <a:sym typeface="Calibri"/>
                        </a:rPr>
                        <a:t>3, 5</a:t>
                      </a:r>
                      <a:endParaRPr sz="1300" u="none" cap="none" strike="noStrike">
                        <a:latin typeface="Calibri"/>
                        <a:ea typeface="Calibri"/>
                        <a:cs typeface="Calibri"/>
                        <a:sym typeface="Calibri"/>
                      </a:endParaRPr>
                    </a:p>
                  </a:txBody>
                  <a:tcPr marT="45725" marB="45725" marR="91450" marL="91450">
                    <a:lnL cap="flat" cmpd="sng" w="9525">
                      <a:solidFill>
                        <a:srgbClr val="E3E8EC"/>
                      </a:solidFill>
                      <a:prstDash val="solid"/>
                      <a:round/>
                      <a:headEnd len="sm" w="sm" type="none"/>
                      <a:tailEnd len="sm" w="sm" type="none"/>
                    </a:lnL>
                    <a:lnR cap="flat" cmpd="sng" w="9525">
                      <a:solidFill>
                        <a:srgbClr val="E3E8EC"/>
                      </a:solidFill>
                      <a:prstDash val="solid"/>
                      <a:round/>
                      <a:headEnd len="sm" w="sm" type="none"/>
                      <a:tailEnd len="sm" w="sm" type="none"/>
                    </a:lnR>
                    <a:lnT cap="flat" cmpd="sng" w="9525">
                      <a:solidFill>
                        <a:srgbClr val="E3E8EC"/>
                      </a:solidFill>
                      <a:prstDash val="solid"/>
                      <a:round/>
                      <a:headEnd len="sm" w="sm" type="none"/>
                      <a:tailEnd len="sm" w="sm" type="none"/>
                    </a:lnT>
                    <a:lnB cap="flat" cmpd="sng" w="9525">
                      <a:solidFill>
                        <a:srgbClr val="E3E8EC"/>
                      </a:solidFill>
                      <a:prstDash val="solid"/>
                      <a:round/>
                      <a:headEnd len="sm" w="sm" type="none"/>
                      <a:tailEnd len="sm" w="sm" type="none"/>
                    </a:lnB>
                    <a:solidFill>
                      <a:srgbClr val="F7F9FB"/>
                    </a:solidFill>
                  </a:tcPr>
                </a:tc>
              </a:tr>
            </a:tbl>
          </a:graphicData>
        </a:graphic>
      </p:graphicFrame>
      <p:sp>
        <p:nvSpPr>
          <p:cNvPr id="291" name="Google Shape;291;p12"/>
          <p:cNvSpPr/>
          <p:nvPr/>
        </p:nvSpPr>
        <p:spPr>
          <a:xfrm>
            <a:off x="6629400" y="1600200"/>
            <a:ext cx="5010912" cy="4480560"/>
          </a:xfrm>
          <a:prstGeom prst="rect">
            <a:avLst/>
          </a:prstGeom>
          <a:solidFill>
            <a:srgbClr val="0B2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6903720" y="1783080"/>
            <a:ext cx="4480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500"/>
              <a:buFont typeface="Cambria"/>
              <a:buNone/>
            </a:pPr>
            <a:r>
              <a:rPr b="1" i="0" lang="en-US" sz="1500" u="none" cap="none" strike="noStrike">
                <a:solidFill>
                  <a:srgbClr val="E8871E"/>
                </a:solidFill>
                <a:latin typeface="Cambria"/>
                <a:ea typeface="Cambria"/>
                <a:cs typeface="Cambria"/>
                <a:sym typeface="Cambria"/>
              </a:rPr>
              <a:t>Selection Criteria</a:t>
            </a:r>
            <a:endParaRPr b="0" i="0" sz="1500" u="none" cap="none" strike="noStrike">
              <a:solidFill>
                <a:schemeClr val="dk1"/>
              </a:solidFill>
              <a:latin typeface="Calibri"/>
              <a:ea typeface="Calibri"/>
              <a:cs typeface="Calibri"/>
              <a:sym typeface="Calibri"/>
            </a:endParaRPr>
          </a:p>
        </p:txBody>
      </p:sp>
      <p:sp>
        <p:nvSpPr>
          <p:cNvPr id="293" name="Google Shape;293;p12"/>
          <p:cNvSpPr/>
          <p:nvPr/>
        </p:nvSpPr>
        <p:spPr>
          <a:xfrm>
            <a:off x="6903720" y="2194560"/>
            <a:ext cx="448056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CFE3EF"/>
              </a:buClr>
              <a:buSzPts val="1250"/>
              <a:buFont typeface="Calibri"/>
              <a:buNone/>
            </a:pPr>
            <a:r>
              <a:rPr b="0" i="0" lang="en-US" sz="1250" u="none" cap="none" strike="noStrike">
                <a:solidFill>
                  <a:srgbClr val="CFE3EF"/>
                </a:solidFill>
                <a:latin typeface="Calibri"/>
                <a:ea typeface="Calibri"/>
                <a:cs typeface="Calibri"/>
                <a:sym typeface="Calibri"/>
              </a:rPr>
              <a:t>The best configuration was chosen based on the highest cross-validation R² score across all parameter combinations.</a:t>
            </a:r>
            <a:endParaRPr b="0" i="0" sz="1250" u="none" cap="none" strike="noStrike">
              <a:solidFill>
                <a:schemeClr val="dk1"/>
              </a:solidFill>
              <a:latin typeface="Calibri"/>
              <a:ea typeface="Calibri"/>
              <a:cs typeface="Calibri"/>
              <a:sym typeface="Calibri"/>
            </a:endParaRPr>
          </a:p>
        </p:txBody>
      </p:sp>
      <p:sp>
        <p:nvSpPr>
          <p:cNvPr id="294" name="Google Shape;294;p12"/>
          <p:cNvSpPr/>
          <p:nvPr/>
        </p:nvSpPr>
        <p:spPr>
          <a:xfrm>
            <a:off x="6903720" y="3200400"/>
            <a:ext cx="4480560" cy="2651760"/>
          </a:xfrm>
          <a:prstGeom prst="rect">
            <a:avLst/>
          </a:prstGeom>
          <a:solidFill>
            <a:srgbClr val="133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2"/>
          <p:cNvSpPr/>
          <p:nvPr/>
        </p:nvSpPr>
        <p:spPr>
          <a:xfrm>
            <a:off x="7132320" y="3364992"/>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871E"/>
              </a:buClr>
              <a:buSzPts val="1200"/>
              <a:buFont typeface="Calibri"/>
              <a:buNone/>
            </a:pPr>
            <a:r>
              <a:rPr b="1" i="0" lang="en-US" sz="1200" u="none" cap="none" strike="noStrike">
                <a:solidFill>
                  <a:srgbClr val="E8871E"/>
                </a:solidFill>
                <a:latin typeface="Calibri"/>
                <a:ea typeface="Calibri"/>
                <a:cs typeface="Calibri"/>
                <a:sym typeface="Calibri"/>
              </a:rPr>
              <a:t>Result</a:t>
            </a:r>
            <a:endParaRPr b="0" i="0" sz="1200" u="none" cap="none" strike="noStrike">
              <a:solidFill>
                <a:schemeClr val="dk1"/>
              </a:solidFill>
              <a:latin typeface="Calibri"/>
              <a:ea typeface="Calibri"/>
              <a:cs typeface="Calibri"/>
              <a:sym typeface="Calibri"/>
            </a:endParaRPr>
          </a:p>
        </p:txBody>
      </p:sp>
      <p:sp>
        <p:nvSpPr>
          <p:cNvPr id="296" name="Google Shape;296;p12"/>
          <p:cNvSpPr/>
          <p:nvPr/>
        </p:nvSpPr>
        <p:spPr>
          <a:xfrm>
            <a:off x="7132320" y="3675888"/>
            <a:ext cx="40233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Tuned CatBoost outperformed the default configuration</a:t>
            </a:r>
            <a:endParaRPr b="0" i="0" sz="1300" u="none" cap="none" strike="noStrike">
              <a:solidFill>
                <a:schemeClr val="dk1"/>
              </a:solidFill>
              <a:latin typeface="Calibri"/>
              <a:ea typeface="Calibri"/>
              <a:cs typeface="Calibri"/>
              <a:sym typeface="Calibri"/>
            </a:endParaRPr>
          </a:p>
        </p:txBody>
      </p:sp>
      <p:sp>
        <p:nvSpPr>
          <p:cNvPr id="297" name="Google Shape;297;p12"/>
          <p:cNvSpPr/>
          <p:nvPr/>
        </p:nvSpPr>
        <p:spPr>
          <a:xfrm>
            <a:off x="7132320" y="4251960"/>
            <a:ext cx="402336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CFE3EF"/>
              </a:buClr>
              <a:buSzPts val="1300"/>
              <a:buFont typeface="Calibri"/>
              <a:buNone/>
            </a:pPr>
            <a:r>
              <a:rPr b="0" i="0" lang="en-US" sz="1300" u="none" cap="none" strike="noStrike">
                <a:solidFill>
                  <a:srgbClr val="CFE3EF"/>
                </a:solidFill>
                <a:latin typeface="Calibri"/>
                <a:ea typeface="Calibri"/>
                <a:cs typeface="Calibri"/>
                <a:sym typeface="Calibri"/>
              </a:rPr>
              <a:t>R² Score:  </a:t>
            </a:r>
            <a:r>
              <a:rPr b="1" i="0" lang="en-US" sz="1300" u="none" cap="none" strike="noStrike">
                <a:solidFill>
                  <a:srgbClr val="FFFFFF"/>
                </a:solidFill>
                <a:latin typeface="Calibri"/>
                <a:ea typeface="Calibri"/>
                <a:cs typeface="Calibri"/>
                <a:sym typeface="Calibri"/>
              </a:rPr>
              <a:t>0.9363 → 0.9371</a:t>
            </a:r>
            <a:br>
              <a:rPr b="1" i="0" lang="en-US" sz="1300" u="none" cap="none" strike="noStrike">
                <a:solidFill>
                  <a:srgbClr val="FFFFFF"/>
                </a:solidFill>
                <a:latin typeface="Calibri"/>
                <a:ea typeface="Calibri"/>
                <a:cs typeface="Calibri"/>
                <a:sym typeface="Calibri"/>
              </a:rPr>
            </a:br>
            <a:r>
              <a:rPr b="0" i="0" lang="en-US" sz="1300" u="none" cap="none" strike="noStrike">
                <a:solidFill>
                  <a:srgbClr val="CFE3EF"/>
                </a:solidFill>
                <a:latin typeface="Calibri"/>
                <a:ea typeface="Calibri"/>
                <a:cs typeface="Calibri"/>
                <a:sym typeface="Calibri"/>
              </a:rPr>
              <a:t>RMSE:  </a:t>
            </a:r>
            <a:r>
              <a:rPr b="1" i="0" lang="en-US" sz="1300" u="none" cap="none" strike="noStrike">
                <a:solidFill>
                  <a:srgbClr val="FFFFFF"/>
                </a:solidFill>
                <a:latin typeface="Calibri"/>
                <a:ea typeface="Calibri"/>
                <a:cs typeface="Calibri"/>
                <a:sym typeface="Calibri"/>
              </a:rPr>
              <a:t>18,765.32 → 18,636.19</a:t>
            </a:r>
            <a:br>
              <a:rPr b="1" i="0" lang="en-US" sz="1300" u="none" cap="none" strike="noStrike">
                <a:solidFill>
                  <a:srgbClr val="FFFFFF"/>
                </a:solidFill>
                <a:latin typeface="Calibri"/>
                <a:ea typeface="Calibri"/>
                <a:cs typeface="Calibri"/>
                <a:sym typeface="Calibri"/>
              </a:rPr>
            </a:br>
            <a:r>
              <a:rPr b="0" i="0" lang="en-US" sz="1300" u="none" cap="none" strike="noStrike">
                <a:solidFill>
                  <a:srgbClr val="CFE3EF"/>
                </a:solidFill>
                <a:latin typeface="Calibri"/>
                <a:ea typeface="Calibri"/>
                <a:cs typeface="Calibri"/>
                <a:sym typeface="Calibri"/>
              </a:rPr>
              <a:t>MAE:  </a:t>
            </a:r>
            <a:r>
              <a:rPr b="1" i="0" lang="en-US" sz="1300" u="none" cap="none" strike="noStrike">
                <a:solidFill>
                  <a:srgbClr val="FFFFFF"/>
                </a:solidFill>
                <a:latin typeface="Calibri"/>
                <a:ea typeface="Calibri"/>
                <a:cs typeface="Calibri"/>
                <a:sym typeface="Calibri"/>
              </a:rPr>
              <a:t>13,721.36 → 13,680.99</a:t>
            </a:r>
            <a:endParaRPr b="0" i="0" sz="1300" u="none" cap="none" strike="noStrike">
              <a:solidFill>
                <a:schemeClr val="dk1"/>
              </a:solidFill>
              <a:latin typeface="Calibri"/>
              <a:ea typeface="Calibri"/>
              <a:cs typeface="Calibri"/>
              <a:sym typeface="Calibri"/>
            </a:endParaRPr>
          </a:p>
        </p:txBody>
      </p:sp>
      <p:sp>
        <p:nvSpPr>
          <p:cNvPr id="298" name="Google Shape;298;p12"/>
          <p:cNvSpPr/>
          <p:nvPr/>
        </p:nvSpPr>
        <p:spPr>
          <a:xfrm>
            <a:off x="548640" y="4251960"/>
            <a:ext cx="5760720" cy="18288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777240" y="4434840"/>
            <a:ext cx="5303520" cy="146304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A2430"/>
              </a:buClr>
              <a:buSzPts val="1250"/>
              <a:buFont typeface="Calibri"/>
              <a:buNone/>
            </a:pPr>
            <a:r>
              <a:rPr b="0" i="1" lang="en-US" sz="1250" u="none" cap="none" strike="noStrike">
                <a:solidFill>
                  <a:srgbClr val="1A2430"/>
                </a:solidFill>
                <a:latin typeface="Calibri"/>
                <a:ea typeface="Calibri"/>
                <a:cs typeface="Calibri"/>
                <a:sym typeface="Calibri"/>
              </a:rPr>
              <a:t>Hyperparameter tuning improved performance by reducing prediction error and slightly increasing explained variance compared with the default CatBoost configuration.</a:t>
            </a:r>
            <a:endParaRPr b="0" i="0" sz="1250" u="none" cap="none" strike="noStrike">
              <a:solidFill>
                <a:schemeClr val="dk1"/>
              </a:solidFill>
              <a:latin typeface="Calibri"/>
              <a:ea typeface="Calibri"/>
              <a:cs typeface="Calibri"/>
              <a:sym typeface="Calibri"/>
            </a:endParaRPr>
          </a:p>
        </p:txBody>
      </p:sp>
      <p:sp>
        <p:nvSpPr>
          <p:cNvPr id="300" name="Google Shape;300;p12"/>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301" name="Google Shape;301;p12"/>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g3f6354b629e_0_0"/>
          <p:cNvSpPr/>
          <p:nvPr/>
        </p:nvSpPr>
        <p:spPr>
          <a:xfrm>
            <a:off x="548640" y="365760"/>
            <a:ext cx="11091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Model Comparison</a:t>
            </a:r>
            <a:endParaRPr b="0" i="0" sz="3000" u="none" cap="none" strike="noStrike">
              <a:solidFill>
                <a:schemeClr val="dk1"/>
              </a:solidFill>
              <a:latin typeface="Calibri"/>
              <a:ea typeface="Calibri"/>
              <a:cs typeface="Calibri"/>
              <a:sym typeface="Calibri"/>
            </a:endParaRPr>
          </a:p>
        </p:txBody>
      </p:sp>
      <p:sp>
        <p:nvSpPr>
          <p:cNvPr id="308" name="Google Shape;308;g3f6354b629e_0_0"/>
          <p:cNvSpPr/>
          <p:nvPr/>
        </p:nvSpPr>
        <p:spPr>
          <a:xfrm>
            <a:off x="548640" y="960120"/>
            <a:ext cx="11091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R² Score across all 12 evaluated algorithms</a:t>
            </a:r>
            <a:endParaRPr b="0" i="0" sz="1400" u="none" cap="none" strike="noStrike">
              <a:solidFill>
                <a:schemeClr val="dk1"/>
              </a:solidFill>
              <a:latin typeface="Calibri"/>
              <a:ea typeface="Calibri"/>
              <a:cs typeface="Calibri"/>
              <a:sym typeface="Calibri"/>
            </a:endParaRPr>
          </a:p>
        </p:txBody>
      </p:sp>
      <p:sp>
        <p:nvSpPr>
          <p:cNvPr id="309" name="Google Shape;309;g3f6354b629e_0_0"/>
          <p:cNvSpPr/>
          <p:nvPr/>
        </p:nvSpPr>
        <p:spPr>
          <a:xfrm>
            <a:off x="457200" y="6473952"/>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310" name="Google Shape;310;g3f6354b629e_0_0"/>
          <p:cNvSpPr/>
          <p:nvPr/>
        </p:nvSpPr>
        <p:spPr>
          <a:xfrm>
            <a:off x="11274552" y="6473952"/>
            <a:ext cx="457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pic>
        <p:nvPicPr>
          <p:cNvPr id="311" name="Google Shape;311;g3f6354b629e_0_0"/>
          <p:cNvPicPr preferRelativeResize="0"/>
          <p:nvPr/>
        </p:nvPicPr>
        <p:blipFill>
          <a:blip r:embed="rId3">
            <a:alphaModFix/>
          </a:blip>
          <a:stretch>
            <a:fillRect/>
          </a:stretch>
        </p:blipFill>
        <p:spPr>
          <a:xfrm>
            <a:off x="914400" y="1478275"/>
            <a:ext cx="8418175" cy="44809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13"/>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Model Evaluation</a:t>
            </a:r>
            <a:endParaRPr b="0" i="0" sz="3000" u="none" cap="none" strike="noStrike">
              <a:solidFill>
                <a:schemeClr val="dk1"/>
              </a:solidFill>
              <a:latin typeface="Calibri"/>
              <a:ea typeface="Calibri"/>
              <a:cs typeface="Calibri"/>
              <a:sym typeface="Calibri"/>
            </a:endParaRPr>
          </a:p>
        </p:txBody>
      </p:sp>
      <p:sp>
        <p:nvSpPr>
          <p:cNvPr id="318" name="Google Shape;318;p13"/>
          <p:cNvSpPr/>
          <p:nvPr/>
        </p:nvSpPr>
        <p:spPr>
          <a:xfrm>
            <a:off x="548640" y="96012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Four standard regression metrics guided model comparison</a:t>
            </a:r>
            <a:endParaRPr b="0" i="0" sz="1400" u="none" cap="none" strike="noStrike">
              <a:solidFill>
                <a:schemeClr val="dk1"/>
              </a:solidFill>
              <a:latin typeface="Calibri"/>
              <a:ea typeface="Calibri"/>
              <a:cs typeface="Calibri"/>
              <a:sym typeface="Calibri"/>
            </a:endParaRPr>
          </a:p>
        </p:txBody>
      </p:sp>
      <p:sp>
        <p:nvSpPr>
          <p:cNvPr id="319" name="Google Shape;319;p13"/>
          <p:cNvSpPr/>
          <p:nvPr/>
        </p:nvSpPr>
        <p:spPr>
          <a:xfrm>
            <a:off x="548640" y="1554480"/>
            <a:ext cx="539496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p:nvPr/>
        </p:nvSpPr>
        <p:spPr>
          <a:xfrm>
            <a:off x="731520" y="1773936"/>
            <a:ext cx="594360" cy="59436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731520" y="1773936"/>
            <a:ext cx="594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950"/>
              <a:buFont typeface="Calibri"/>
              <a:buNone/>
            </a:pPr>
            <a:r>
              <a:rPr b="1" i="0" lang="en-US" sz="1950" u="none" cap="none" strike="noStrike">
                <a:solidFill>
                  <a:srgbClr val="FFFFFF"/>
                </a:solidFill>
                <a:latin typeface="Calibri"/>
                <a:ea typeface="Calibri"/>
                <a:cs typeface="Calibri"/>
                <a:sym typeface="Calibri"/>
              </a:rPr>
              <a:t>MAE</a:t>
            </a:r>
            <a:endParaRPr b="0" i="0" sz="1950" u="none" cap="none" strike="noStrike">
              <a:solidFill>
                <a:schemeClr val="dk1"/>
              </a:solidFill>
              <a:latin typeface="Calibri"/>
              <a:ea typeface="Calibri"/>
              <a:cs typeface="Calibri"/>
              <a:sym typeface="Calibri"/>
            </a:endParaRPr>
          </a:p>
        </p:txBody>
      </p:sp>
      <p:sp>
        <p:nvSpPr>
          <p:cNvPr id="322" name="Google Shape;322;p13"/>
          <p:cNvSpPr/>
          <p:nvPr/>
        </p:nvSpPr>
        <p:spPr>
          <a:xfrm>
            <a:off x="1508760" y="1645920"/>
            <a:ext cx="429768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Mean Absolute Error — average absolute difference between actual and predicted prices.</a:t>
            </a:r>
            <a:endParaRPr b="0" i="0" sz="1150" u="none" cap="none" strike="noStrike">
              <a:solidFill>
                <a:schemeClr val="dk1"/>
              </a:solidFill>
              <a:latin typeface="Calibri"/>
              <a:ea typeface="Calibri"/>
              <a:cs typeface="Calibri"/>
              <a:sym typeface="Calibri"/>
            </a:endParaRPr>
          </a:p>
        </p:txBody>
      </p:sp>
      <p:sp>
        <p:nvSpPr>
          <p:cNvPr id="323" name="Google Shape;323;p13"/>
          <p:cNvSpPr/>
          <p:nvPr/>
        </p:nvSpPr>
        <p:spPr>
          <a:xfrm>
            <a:off x="548640" y="2743200"/>
            <a:ext cx="539496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
          <p:cNvSpPr/>
          <p:nvPr/>
        </p:nvSpPr>
        <p:spPr>
          <a:xfrm>
            <a:off x="731520" y="2962656"/>
            <a:ext cx="594360" cy="59436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3"/>
          <p:cNvSpPr/>
          <p:nvPr/>
        </p:nvSpPr>
        <p:spPr>
          <a:xfrm>
            <a:off x="731520" y="2962656"/>
            <a:ext cx="594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950"/>
              <a:buFont typeface="Calibri"/>
              <a:buNone/>
            </a:pPr>
            <a:r>
              <a:rPr b="1" i="0" lang="en-US" sz="1950" u="none" cap="none" strike="noStrike">
                <a:solidFill>
                  <a:srgbClr val="FFFFFF"/>
                </a:solidFill>
                <a:latin typeface="Calibri"/>
                <a:ea typeface="Calibri"/>
                <a:cs typeface="Calibri"/>
                <a:sym typeface="Calibri"/>
              </a:rPr>
              <a:t>MSE</a:t>
            </a:r>
            <a:endParaRPr b="0" i="0" sz="1950" u="none" cap="none" strike="noStrike">
              <a:solidFill>
                <a:schemeClr val="dk1"/>
              </a:solidFill>
              <a:latin typeface="Calibri"/>
              <a:ea typeface="Calibri"/>
              <a:cs typeface="Calibri"/>
              <a:sym typeface="Calibri"/>
            </a:endParaRPr>
          </a:p>
        </p:txBody>
      </p:sp>
      <p:sp>
        <p:nvSpPr>
          <p:cNvPr id="326" name="Google Shape;326;p13"/>
          <p:cNvSpPr/>
          <p:nvPr/>
        </p:nvSpPr>
        <p:spPr>
          <a:xfrm>
            <a:off x="1508760" y="2834640"/>
            <a:ext cx="429768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Mean Squared Error — squared differences; penalizes larger errors more heavily.</a:t>
            </a:r>
            <a:endParaRPr b="0" i="0" sz="1150" u="none" cap="none" strike="noStrike">
              <a:solidFill>
                <a:schemeClr val="dk1"/>
              </a:solidFill>
              <a:latin typeface="Calibri"/>
              <a:ea typeface="Calibri"/>
              <a:cs typeface="Calibri"/>
              <a:sym typeface="Calibri"/>
            </a:endParaRPr>
          </a:p>
        </p:txBody>
      </p:sp>
      <p:sp>
        <p:nvSpPr>
          <p:cNvPr id="327" name="Google Shape;327;p13"/>
          <p:cNvSpPr/>
          <p:nvPr/>
        </p:nvSpPr>
        <p:spPr>
          <a:xfrm>
            <a:off x="548640" y="3931920"/>
            <a:ext cx="539496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731520" y="4151376"/>
            <a:ext cx="594360" cy="59436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a:off x="731520" y="4151376"/>
            <a:ext cx="594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950"/>
              <a:buFont typeface="Calibri"/>
              <a:buNone/>
            </a:pPr>
            <a:r>
              <a:rPr b="1" i="0" lang="en-US" sz="1950" u="none" cap="none" strike="noStrike">
                <a:solidFill>
                  <a:srgbClr val="FFFFFF"/>
                </a:solidFill>
                <a:latin typeface="Calibri"/>
                <a:ea typeface="Calibri"/>
                <a:cs typeface="Calibri"/>
                <a:sym typeface="Calibri"/>
              </a:rPr>
              <a:t>RMSE</a:t>
            </a:r>
            <a:endParaRPr b="0" i="0" sz="1950" u="none" cap="none" strike="noStrike">
              <a:solidFill>
                <a:schemeClr val="dk1"/>
              </a:solidFill>
              <a:latin typeface="Calibri"/>
              <a:ea typeface="Calibri"/>
              <a:cs typeface="Calibri"/>
              <a:sym typeface="Calibri"/>
            </a:endParaRPr>
          </a:p>
        </p:txBody>
      </p:sp>
      <p:sp>
        <p:nvSpPr>
          <p:cNvPr id="330" name="Google Shape;330;p13"/>
          <p:cNvSpPr/>
          <p:nvPr/>
        </p:nvSpPr>
        <p:spPr>
          <a:xfrm>
            <a:off x="1508760" y="4023360"/>
            <a:ext cx="429768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Root Mean Squared Error — prediction error in the original price scale.</a:t>
            </a:r>
            <a:endParaRPr b="0" i="0" sz="1150" u="none" cap="none" strike="noStrike">
              <a:solidFill>
                <a:schemeClr val="dk1"/>
              </a:solidFill>
              <a:latin typeface="Calibri"/>
              <a:ea typeface="Calibri"/>
              <a:cs typeface="Calibri"/>
              <a:sym typeface="Calibri"/>
            </a:endParaRPr>
          </a:p>
        </p:txBody>
      </p:sp>
      <p:sp>
        <p:nvSpPr>
          <p:cNvPr id="331" name="Google Shape;331;p13"/>
          <p:cNvSpPr/>
          <p:nvPr/>
        </p:nvSpPr>
        <p:spPr>
          <a:xfrm>
            <a:off x="548640" y="5120640"/>
            <a:ext cx="539496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731520" y="5340096"/>
            <a:ext cx="594360" cy="59436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731520" y="5340096"/>
            <a:ext cx="59436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950"/>
              <a:buFont typeface="Calibri"/>
              <a:buNone/>
            </a:pPr>
            <a:r>
              <a:rPr b="1" i="0" lang="en-US" sz="1950" u="none" cap="none" strike="noStrike">
                <a:solidFill>
                  <a:srgbClr val="FFFFFF"/>
                </a:solidFill>
                <a:latin typeface="Calibri"/>
                <a:ea typeface="Calibri"/>
                <a:cs typeface="Calibri"/>
                <a:sym typeface="Calibri"/>
              </a:rPr>
              <a:t>R²</a:t>
            </a:r>
            <a:endParaRPr b="0" i="0" sz="1950" u="none" cap="none" strike="noStrike">
              <a:solidFill>
                <a:schemeClr val="dk1"/>
              </a:solidFill>
              <a:latin typeface="Calibri"/>
              <a:ea typeface="Calibri"/>
              <a:cs typeface="Calibri"/>
              <a:sym typeface="Calibri"/>
            </a:endParaRPr>
          </a:p>
        </p:txBody>
      </p:sp>
      <p:sp>
        <p:nvSpPr>
          <p:cNvPr id="334" name="Google Shape;334;p13"/>
          <p:cNvSpPr/>
          <p:nvPr/>
        </p:nvSpPr>
        <p:spPr>
          <a:xfrm>
            <a:off x="1508760" y="5212080"/>
            <a:ext cx="429768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Proportion of variance explained; higher values indicate stronger predictive power.</a:t>
            </a:r>
            <a:endParaRPr b="0" i="0" sz="1150" u="none" cap="none" strike="noStrike">
              <a:solidFill>
                <a:schemeClr val="dk1"/>
              </a:solidFill>
              <a:latin typeface="Calibri"/>
              <a:ea typeface="Calibri"/>
              <a:cs typeface="Calibri"/>
              <a:sym typeface="Calibri"/>
            </a:endParaRPr>
          </a:p>
        </p:txBody>
      </p:sp>
      <p:sp>
        <p:nvSpPr>
          <p:cNvPr id="335" name="Google Shape;335;p13"/>
          <p:cNvSpPr/>
          <p:nvPr/>
        </p:nvSpPr>
        <p:spPr>
          <a:xfrm>
            <a:off x="6172200" y="6126480"/>
            <a:ext cx="54406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050"/>
              <a:buFont typeface="Calibri"/>
              <a:buNone/>
            </a:pPr>
            <a:r>
              <a:rPr b="0" i="1" lang="en-US" sz="1050" u="none" cap="none" strike="noStrike">
                <a:solidFill>
                  <a:srgbClr val="5B6B79"/>
                </a:solidFill>
                <a:latin typeface="Calibri"/>
                <a:ea typeface="Calibri"/>
                <a:cs typeface="Calibri"/>
                <a:sym typeface="Calibri"/>
              </a:rPr>
              <a:t>Actual vs Predicted House Prices — tight clustering along the diagonal confirms strong agreement.</a:t>
            </a:r>
            <a:endParaRPr b="0" i="0" sz="1050" u="none" cap="none" strike="noStrike">
              <a:solidFill>
                <a:schemeClr val="dk1"/>
              </a:solidFill>
              <a:latin typeface="Calibri"/>
              <a:ea typeface="Calibri"/>
              <a:cs typeface="Calibri"/>
              <a:sym typeface="Calibri"/>
            </a:endParaRPr>
          </a:p>
        </p:txBody>
      </p:sp>
      <p:sp>
        <p:nvSpPr>
          <p:cNvPr id="336" name="Google Shape;336;p13"/>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337" name="Google Shape;337;p13"/>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pic>
        <p:nvPicPr>
          <p:cNvPr id="338" name="Google Shape;338;p13"/>
          <p:cNvPicPr preferRelativeResize="0"/>
          <p:nvPr/>
        </p:nvPicPr>
        <p:blipFill>
          <a:blip r:embed="rId3">
            <a:alphaModFix/>
          </a:blip>
          <a:stretch>
            <a:fillRect/>
          </a:stretch>
        </p:blipFill>
        <p:spPr>
          <a:xfrm>
            <a:off x="6096000" y="1478280"/>
            <a:ext cx="5943603" cy="445770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14"/>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Residual &amp; Learning Curve Analysis</a:t>
            </a:r>
            <a:endParaRPr b="0" i="0" sz="3000" u="none" cap="none" strike="noStrike">
              <a:solidFill>
                <a:schemeClr val="dk1"/>
              </a:solidFill>
              <a:latin typeface="Calibri"/>
              <a:ea typeface="Calibri"/>
              <a:cs typeface="Calibri"/>
              <a:sym typeface="Calibri"/>
            </a:endParaRPr>
          </a:p>
        </p:txBody>
      </p:sp>
      <p:pic>
        <p:nvPicPr>
          <p:cNvPr descr="/home/claude/extracted_images/fig08_residual_analysis.jpg" id="345" name="Google Shape;345;p14"/>
          <p:cNvPicPr preferRelativeResize="0"/>
          <p:nvPr/>
        </p:nvPicPr>
        <p:blipFill rotWithShape="1">
          <a:blip r:embed="rId3">
            <a:alphaModFix/>
          </a:blip>
          <a:srcRect b="0" l="0" r="0" t="0"/>
          <a:stretch/>
        </p:blipFill>
        <p:spPr>
          <a:xfrm>
            <a:off x="6172190" y="1280165"/>
            <a:ext cx="5440680" cy="4206239"/>
          </a:xfrm>
          <a:prstGeom prst="rect">
            <a:avLst/>
          </a:prstGeom>
          <a:noFill/>
          <a:ln>
            <a:noFill/>
          </a:ln>
        </p:spPr>
      </p:pic>
      <p:sp>
        <p:nvSpPr>
          <p:cNvPr id="346" name="Google Shape;346;p14"/>
          <p:cNvSpPr/>
          <p:nvPr/>
        </p:nvSpPr>
        <p:spPr>
          <a:xfrm>
            <a:off x="548640" y="5760720"/>
            <a:ext cx="54406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100"/>
              <a:buFont typeface="Calibri"/>
              <a:buNone/>
            </a:pPr>
            <a:r>
              <a:rPr b="0" i="1" lang="en-US" sz="1100" u="none" cap="none" strike="noStrike">
                <a:solidFill>
                  <a:srgbClr val="5B6B79"/>
                </a:solidFill>
                <a:latin typeface="Calibri"/>
                <a:ea typeface="Calibri"/>
                <a:cs typeface="Calibri"/>
                <a:sym typeface="Calibri"/>
              </a:rPr>
              <a:t>Residuals are randomly distributed around zero — no systematic prediction bias.</a:t>
            </a:r>
            <a:endParaRPr b="0" i="0" sz="1100" u="none" cap="none" strike="noStrike">
              <a:solidFill>
                <a:schemeClr val="dk1"/>
              </a:solidFill>
              <a:latin typeface="Calibri"/>
              <a:ea typeface="Calibri"/>
              <a:cs typeface="Calibri"/>
              <a:sym typeface="Calibri"/>
            </a:endParaRPr>
          </a:p>
        </p:txBody>
      </p:sp>
      <p:sp>
        <p:nvSpPr>
          <p:cNvPr id="347" name="Google Shape;347;p14"/>
          <p:cNvSpPr/>
          <p:nvPr/>
        </p:nvSpPr>
        <p:spPr>
          <a:xfrm>
            <a:off x="6172200" y="5760720"/>
            <a:ext cx="54406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100"/>
              <a:buFont typeface="Calibri"/>
              <a:buNone/>
            </a:pPr>
            <a:r>
              <a:rPr b="0" i="1" lang="en-US" sz="1100" u="none" cap="none" strike="noStrike">
                <a:solidFill>
                  <a:srgbClr val="5B6B79"/>
                </a:solidFill>
                <a:latin typeface="Calibri"/>
                <a:ea typeface="Calibri"/>
                <a:cs typeface="Calibri"/>
                <a:sym typeface="Calibri"/>
              </a:rPr>
              <a:t>Training and validation R² converge as sample size grows — good generalization, minimal overfitting.</a:t>
            </a:r>
            <a:endParaRPr b="0" i="0" sz="1100" u="none" cap="none" strike="noStrike">
              <a:solidFill>
                <a:schemeClr val="dk1"/>
              </a:solidFill>
              <a:latin typeface="Calibri"/>
              <a:ea typeface="Calibri"/>
              <a:cs typeface="Calibri"/>
              <a:sym typeface="Calibri"/>
            </a:endParaRPr>
          </a:p>
        </p:txBody>
      </p:sp>
      <p:sp>
        <p:nvSpPr>
          <p:cNvPr id="348" name="Google Shape;348;p14"/>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349" name="Google Shape;349;p14"/>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pic>
        <p:nvPicPr>
          <p:cNvPr descr="/home/claude/extracted_images/fig07_actual_vs_predicted.jpg" id="350" name="Google Shape;350;p14"/>
          <p:cNvPicPr preferRelativeResize="0"/>
          <p:nvPr/>
        </p:nvPicPr>
        <p:blipFill rotWithShape="1">
          <a:blip r:embed="rId4">
            <a:alphaModFix/>
          </a:blip>
          <a:srcRect b="0" l="0" r="0" t="0"/>
          <a:stretch/>
        </p:blipFill>
        <p:spPr>
          <a:xfrm>
            <a:off x="548650" y="1280180"/>
            <a:ext cx="5440680" cy="45719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E4F"/>
        </a:solidFill>
      </p:bgPr>
    </p:bg>
    <p:spTree>
      <p:nvGrpSpPr>
        <p:cNvPr id="355" name="Shape 355"/>
        <p:cNvGrpSpPr/>
        <p:nvPr/>
      </p:nvGrpSpPr>
      <p:grpSpPr>
        <a:xfrm>
          <a:off x="0" y="0"/>
          <a:ext cx="0" cy="0"/>
          <a:chOff x="0" y="0"/>
          <a:chExt cx="0" cy="0"/>
        </a:xfrm>
      </p:grpSpPr>
      <p:sp>
        <p:nvSpPr>
          <p:cNvPr id="356" name="Google Shape;356;p16"/>
          <p:cNvSpPr/>
          <p:nvPr/>
        </p:nvSpPr>
        <p:spPr>
          <a:xfrm>
            <a:off x="548640" y="50292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Best Model Selection</a:t>
            </a:r>
            <a:endParaRPr b="0" i="0" sz="3000" u="none" cap="none" strike="noStrike">
              <a:solidFill>
                <a:schemeClr val="dk1"/>
              </a:solidFill>
              <a:latin typeface="Calibri"/>
              <a:ea typeface="Calibri"/>
              <a:cs typeface="Calibri"/>
              <a:sym typeface="Calibri"/>
            </a:endParaRPr>
          </a:p>
        </p:txBody>
      </p:sp>
      <p:sp>
        <p:nvSpPr>
          <p:cNvPr id="357" name="Google Shape;357;p16"/>
          <p:cNvSpPr/>
          <p:nvPr/>
        </p:nvSpPr>
        <p:spPr>
          <a:xfrm>
            <a:off x="548640" y="109728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3EF"/>
              </a:buClr>
              <a:buSzPts val="1400"/>
              <a:buFont typeface="Calibri"/>
              <a:buNone/>
            </a:pPr>
            <a:r>
              <a:rPr b="0" i="1" lang="en-US" sz="1400" u="none" cap="none" strike="noStrike">
                <a:solidFill>
                  <a:srgbClr val="CFE3EF"/>
                </a:solidFill>
                <a:latin typeface="Calibri"/>
                <a:ea typeface="Calibri"/>
                <a:cs typeface="Calibri"/>
                <a:sym typeface="Calibri"/>
              </a:rPr>
              <a:t>Tuned CatBoost Regressor — the final selected model</a:t>
            </a:r>
            <a:endParaRPr b="0" i="0" sz="1400" u="none" cap="none" strike="noStrike">
              <a:solidFill>
                <a:schemeClr val="dk1"/>
              </a:solidFill>
              <a:latin typeface="Calibri"/>
              <a:ea typeface="Calibri"/>
              <a:cs typeface="Calibri"/>
              <a:sym typeface="Calibri"/>
            </a:endParaRPr>
          </a:p>
        </p:txBody>
      </p:sp>
      <p:sp>
        <p:nvSpPr>
          <p:cNvPr id="358" name="Google Shape;358;p16"/>
          <p:cNvSpPr/>
          <p:nvPr/>
        </p:nvSpPr>
        <p:spPr>
          <a:xfrm>
            <a:off x="777240" y="1965960"/>
            <a:ext cx="3429000" cy="2286000"/>
          </a:xfrm>
          <a:prstGeom prst="rect">
            <a:avLst/>
          </a:prstGeom>
          <a:solidFill>
            <a:srgbClr val="133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a:off x="777240" y="2194560"/>
            <a:ext cx="34290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871E"/>
              </a:buClr>
              <a:buSzPts val="3200"/>
              <a:buFont typeface="Cambria"/>
              <a:buNone/>
            </a:pPr>
            <a:r>
              <a:rPr b="1" i="0" lang="en-US" sz="3200" u="none" cap="none" strike="noStrike">
                <a:solidFill>
                  <a:srgbClr val="E8871E"/>
                </a:solidFill>
                <a:latin typeface="Cambria"/>
                <a:ea typeface="Cambria"/>
                <a:cs typeface="Cambria"/>
                <a:sym typeface="Cambria"/>
              </a:rPr>
              <a:t>0.9371</a:t>
            </a:r>
            <a:endParaRPr b="0" i="0" sz="3200" u="none" cap="none" strike="noStrike">
              <a:solidFill>
                <a:schemeClr val="dk1"/>
              </a:solidFill>
              <a:latin typeface="Calibri"/>
              <a:ea typeface="Calibri"/>
              <a:cs typeface="Calibri"/>
              <a:sym typeface="Calibri"/>
            </a:endParaRPr>
          </a:p>
        </p:txBody>
      </p:sp>
      <p:sp>
        <p:nvSpPr>
          <p:cNvPr id="360" name="Google Shape;360;p16"/>
          <p:cNvSpPr/>
          <p:nvPr/>
        </p:nvSpPr>
        <p:spPr>
          <a:xfrm>
            <a:off x="777240" y="3017520"/>
            <a:ext cx="3429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R² Score</a:t>
            </a:r>
            <a:endParaRPr b="0" i="0" sz="1400" u="none" cap="none" strike="noStrike">
              <a:solidFill>
                <a:schemeClr val="dk1"/>
              </a:solidFill>
              <a:latin typeface="Calibri"/>
              <a:ea typeface="Calibri"/>
              <a:cs typeface="Calibri"/>
              <a:sym typeface="Calibri"/>
            </a:endParaRPr>
          </a:p>
        </p:txBody>
      </p:sp>
      <p:sp>
        <p:nvSpPr>
          <p:cNvPr id="361" name="Google Shape;361;p16"/>
          <p:cNvSpPr/>
          <p:nvPr/>
        </p:nvSpPr>
        <p:spPr>
          <a:xfrm>
            <a:off x="777240" y="3364992"/>
            <a:ext cx="34290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B4C2"/>
              </a:buClr>
              <a:buSzPts val="1050"/>
              <a:buFont typeface="Calibri"/>
              <a:buNone/>
            </a:pPr>
            <a:r>
              <a:rPr b="0" i="0" lang="en-US" sz="1050" u="none" cap="none" strike="noStrike">
                <a:solidFill>
                  <a:srgbClr val="9FB4C2"/>
                </a:solidFill>
                <a:latin typeface="Calibri"/>
                <a:ea typeface="Calibri"/>
                <a:cs typeface="Calibri"/>
                <a:sym typeface="Calibri"/>
              </a:rPr>
              <a:t>Highest explained variance</a:t>
            </a:r>
            <a:endParaRPr b="0" i="0" sz="1050" u="none" cap="none" strike="noStrike">
              <a:solidFill>
                <a:schemeClr val="dk1"/>
              </a:solidFill>
              <a:latin typeface="Calibri"/>
              <a:ea typeface="Calibri"/>
              <a:cs typeface="Calibri"/>
              <a:sym typeface="Calibri"/>
            </a:endParaRPr>
          </a:p>
        </p:txBody>
      </p:sp>
      <p:sp>
        <p:nvSpPr>
          <p:cNvPr id="362" name="Google Shape;362;p16"/>
          <p:cNvSpPr/>
          <p:nvPr/>
        </p:nvSpPr>
        <p:spPr>
          <a:xfrm>
            <a:off x="4434840" y="1965960"/>
            <a:ext cx="3429000" cy="2286000"/>
          </a:xfrm>
          <a:prstGeom prst="rect">
            <a:avLst/>
          </a:prstGeom>
          <a:solidFill>
            <a:srgbClr val="133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a:off x="4434840" y="2194560"/>
            <a:ext cx="34290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871E"/>
              </a:buClr>
              <a:buSzPts val="3200"/>
              <a:buFont typeface="Cambria"/>
              <a:buNone/>
            </a:pPr>
            <a:r>
              <a:rPr b="1" i="0" lang="en-US" sz="3200" u="none" cap="none" strike="noStrike">
                <a:solidFill>
                  <a:srgbClr val="E8871E"/>
                </a:solidFill>
                <a:latin typeface="Cambria"/>
                <a:ea typeface="Cambria"/>
                <a:cs typeface="Cambria"/>
                <a:sym typeface="Cambria"/>
              </a:rPr>
              <a:t>13,680.99</a:t>
            </a:r>
            <a:endParaRPr b="0" i="0" sz="3200" u="none" cap="none" strike="noStrike">
              <a:solidFill>
                <a:schemeClr val="dk1"/>
              </a:solidFill>
              <a:latin typeface="Calibri"/>
              <a:ea typeface="Calibri"/>
              <a:cs typeface="Calibri"/>
              <a:sym typeface="Calibri"/>
            </a:endParaRPr>
          </a:p>
        </p:txBody>
      </p:sp>
      <p:sp>
        <p:nvSpPr>
          <p:cNvPr id="364" name="Google Shape;364;p16"/>
          <p:cNvSpPr/>
          <p:nvPr/>
        </p:nvSpPr>
        <p:spPr>
          <a:xfrm>
            <a:off x="4434840" y="3017520"/>
            <a:ext cx="3429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MAE (USD)</a:t>
            </a:r>
            <a:endParaRPr b="0" i="0" sz="1400" u="none" cap="none" strike="noStrike">
              <a:solidFill>
                <a:schemeClr val="dk1"/>
              </a:solidFill>
              <a:latin typeface="Calibri"/>
              <a:ea typeface="Calibri"/>
              <a:cs typeface="Calibri"/>
              <a:sym typeface="Calibri"/>
            </a:endParaRPr>
          </a:p>
        </p:txBody>
      </p:sp>
      <p:sp>
        <p:nvSpPr>
          <p:cNvPr id="365" name="Google Shape;365;p16"/>
          <p:cNvSpPr/>
          <p:nvPr/>
        </p:nvSpPr>
        <p:spPr>
          <a:xfrm>
            <a:off x="4434840" y="3364992"/>
            <a:ext cx="34290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B4C2"/>
              </a:buClr>
              <a:buSzPts val="1050"/>
              <a:buFont typeface="Calibri"/>
              <a:buNone/>
            </a:pPr>
            <a:r>
              <a:rPr b="0" i="0" lang="en-US" sz="1050" u="none" cap="none" strike="noStrike">
                <a:solidFill>
                  <a:srgbClr val="9FB4C2"/>
                </a:solidFill>
                <a:latin typeface="Calibri"/>
                <a:ea typeface="Calibri"/>
                <a:cs typeface="Calibri"/>
                <a:sym typeface="Calibri"/>
              </a:rPr>
              <a:t>Lowest mean absolute error</a:t>
            </a:r>
            <a:endParaRPr b="0" i="0" sz="1050" u="none" cap="none" strike="noStrike">
              <a:solidFill>
                <a:schemeClr val="dk1"/>
              </a:solidFill>
              <a:latin typeface="Calibri"/>
              <a:ea typeface="Calibri"/>
              <a:cs typeface="Calibri"/>
              <a:sym typeface="Calibri"/>
            </a:endParaRPr>
          </a:p>
        </p:txBody>
      </p:sp>
      <p:sp>
        <p:nvSpPr>
          <p:cNvPr id="366" name="Google Shape;366;p16"/>
          <p:cNvSpPr/>
          <p:nvPr/>
        </p:nvSpPr>
        <p:spPr>
          <a:xfrm>
            <a:off x="8092440" y="1965960"/>
            <a:ext cx="3429000" cy="2286000"/>
          </a:xfrm>
          <a:prstGeom prst="rect">
            <a:avLst/>
          </a:prstGeom>
          <a:solidFill>
            <a:srgbClr val="133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8092440" y="2194560"/>
            <a:ext cx="34290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871E"/>
              </a:buClr>
              <a:buSzPts val="3200"/>
              <a:buFont typeface="Cambria"/>
              <a:buNone/>
            </a:pPr>
            <a:r>
              <a:rPr b="1" i="0" lang="en-US" sz="3200" u="none" cap="none" strike="noStrike">
                <a:solidFill>
                  <a:srgbClr val="E8871E"/>
                </a:solidFill>
                <a:latin typeface="Cambria"/>
                <a:ea typeface="Cambria"/>
                <a:cs typeface="Cambria"/>
                <a:sym typeface="Cambria"/>
              </a:rPr>
              <a:t>18,636.19</a:t>
            </a:r>
            <a:endParaRPr b="0" i="0" sz="3200" u="none" cap="none" strike="noStrike">
              <a:solidFill>
                <a:schemeClr val="dk1"/>
              </a:solidFill>
              <a:latin typeface="Calibri"/>
              <a:ea typeface="Calibri"/>
              <a:cs typeface="Calibri"/>
              <a:sym typeface="Calibri"/>
            </a:endParaRPr>
          </a:p>
        </p:txBody>
      </p:sp>
      <p:sp>
        <p:nvSpPr>
          <p:cNvPr id="368" name="Google Shape;368;p16"/>
          <p:cNvSpPr/>
          <p:nvPr/>
        </p:nvSpPr>
        <p:spPr>
          <a:xfrm>
            <a:off x="8092440" y="3017520"/>
            <a:ext cx="3429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RMSE (USD)</a:t>
            </a:r>
            <a:endParaRPr b="0" i="0" sz="1400" u="none" cap="none" strike="noStrike">
              <a:solidFill>
                <a:schemeClr val="dk1"/>
              </a:solidFill>
              <a:latin typeface="Calibri"/>
              <a:ea typeface="Calibri"/>
              <a:cs typeface="Calibri"/>
              <a:sym typeface="Calibri"/>
            </a:endParaRPr>
          </a:p>
        </p:txBody>
      </p:sp>
      <p:sp>
        <p:nvSpPr>
          <p:cNvPr id="369" name="Google Shape;369;p16"/>
          <p:cNvSpPr/>
          <p:nvPr/>
        </p:nvSpPr>
        <p:spPr>
          <a:xfrm>
            <a:off x="8092440" y="3364992"/>
            <a:ext cx="34290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FB4C2"/>
              </a:buClr>
              <a:buSzPts val="1050"/>
              <a:buFont typeface="Calibri"/>
              <a:buNone/>
            </a:pPr>
            <a:r>
              <a:rPr b="0" i="0" lang="en-US" sz="1050" u="none" cap="none" strike="noStrike">
                <a:solidFill>
                  <a:srgbClr val="9FB4C2"/>
                </a:solidFill>
                <a:latin typeface="Calibri"/>
                <a:ea typeface="Calibri"/>
                <a:cs typeface="Calibri"/>
                <a:sym typeface="Calibri"/>
              </a:rPr>
              <a:t>Lowest root mean squared error</a:t>
            </a:r>
            <a:endParaRPr b="0" i="0" sz="1050" u="none" cap="none" strike="noStrike">
              <a:solidFill>
                <a:schemeClr val="dk1"/>
              </a:solidFill>
              <a:latin typeface="Calibri"/>
              <a:ea typeface="Calibri"/>
              <a:cs typeface="Calibri"/>
              <a:sym typeface="Calibri"/>
            </a:endParaRPr>
          </a:p>
        </p:txBody>
      </p:sp>
      <p:sp>
        <p:nvSpPr>
          <p:cNvPr id="370" name="Google Shape;370;p16"/>
          <p:cNvSpPr/>
          <p:nvPr/>
        </p:nvSpPr>
        <p:spPr>
          <a:xfrm>
            <a:off x="777240" y="4572000"/>
            <a:ext cx="10634472" cy="1554480"/>
          </a:xfrm>
          <a:prstGeom prst="rect">
            <a:avLst/>
          </a:prstGeom>
          <a:solidFill>
            <a:srgbClr val="133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a:off x="1051560" y="4754880"/>
            <a:ext cx="10058400" cy="11887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CFE3EF"/>
              </a:buClr>
              <a:buSzPts val="1300"/>
              <a:buFont typeface="Calibri"/>
              <a:buNone/>
            </a:pPr>
            <a:r>
              <a:rPr b="0" i="0" lang="en-US" sz="1300" u="none" cap="none" strike="noStrike">
                <a:solidFill>
                  <a:srgbClr val="CFE3EF"/>
                </a:solidFill>
                <a:latin typeface="Calibri"/>
                <a:ea typeface="Calibri"/>
                <a:cs typeface="Calibri"/>
                <a:sym typeface="Calibri"/>
              </a:rPr>
              <a:t>Hyperparameter tuning improved the CatBoost model over its default configuration — reducing prediction error and slightly increasing explained variance. The final tuned model was saved and integrated into the Streamlit prediction application.</a:t>
            </a:r>
            <a:endParaRPr b="0" i="0" sz="1300" u="none" cap="none" strike="noStrike">
              <a:solidFill>
                <a:schemeClr val="dk1"/>
              </a:solidFill>
              <a:latin typeface="Calibri"/>
              <a:ea typeface="Calibri"/>
              <a:cs typeface="Calibri"/>
              <a:sym typeface="Calibri"/>
            </a:endParaRPr>
          </a:p>
        </p:txBody>
      </p:sp>
      <p:sp>
        <p:nvSpPr>
          <p:cNvPr id="372" name="Google Shape;372;p16"/>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373" name="Google Shape;373;p16"/>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18"/>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SHAP Explainability Analysis</a:t>
            </a:r>
            <a:endParaRPr b="0" i="0" sz="3000" u="none" cap="none" strike="noStrike">
              <a:solidFill>
                <a:schemeClr val="dk1"/>
              </a:solidFill>
              <a:latin typeface="Calibri"/>
              <a:ea typeface="Calibri"/>
              <a:cs typeface="Calibri"/>
              <a:sym typeface="Calibri"/>
            </a:endParaRPr>
          </a:p>
        </p:txBody>
      </p:sp>
      <p:sp>
        <p:nvSpPr>
          <p:cNvPr id="380" name="Google Shape;380;p18"/>
          <p:cNvSpPr/>
          <p:nvPr/>
        </p:nvSpPr>
        <p:spPr>
          <a:xfrm>
            <a:off x="548640" y="96012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Shapley Additive exPlanations — global feature impact &amp; direction</a:t>
            </a:r>
            <a:endParaRPr b="0" i="0" sz="1400" u="none" cap="none" strike="noStrike">
              <a:solidFill>
                <a:schemeClr val="dk1"/>
              </a:solidFill>
              <a:latin typeface="Calibri"/>
              <a:ea typeface="Calibri"/>
              <a:cs typeface="Calibri"/>
              <a:sym typeface="Calibri"/>
            </a:endParaRPr>
          </a:p>
        </p:txBody>
      </p:sp>
      <p:pic>
        <p:nvPicPr>
          <p:cNvPr descr="/home/claude/extracted_images/fig11_shap_importance.jpg" id="381" name="Google Shape;381;p18"/>
          <p:cNvPicPr preferRelativeResize="0"/>
          <p:nvPr/>
        </p:nvPicPr>
        <p:blipFill rotWithShape="1">
          <a:blip r:embed="rId3">
            <a:alphaModFix/>
          </a:blip>
          <a:srcRect b="0" l="0" r="0" t="0"/>
          <a:stretch/>
        </p:blipFill>
        <p:spPr>
          <a:xfrm>
            <a:off x="6172190" y="1371607"/>
            <a:ext cx="5440679" cy="4297680"/>
          </a:xfrm>
          <a:prstGeom prst="rect">
            <a:avLst/>
          </a:prstGeom>
          <a:noFill/>
          <a:ln>
            <a:noFill/>
          </a:ln>
        </p:spPr>
      </p:pic>
      <p:sp>
        <p:nvSpPr>
          <p:cNvPr id="382" name="Google Shape;382;p18"/>
          <p:cNvSpPr/>
          <p:nvPr/>
        </p:nvSpPr>
        <p:spPr>
          <a:xfrm>
            <a:off x="548640" y="5806440"/>
            <a:ext cx="54406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050"/>
              <a:buFont typeface="Calibri"/>
              <a:buNone/>
            </a:pPr>
            <a:r>
              <a:rPr b="0" i="1" lang="en-US" sz="1050" u="none" cap="none" strike="noStrike">
                <a:solidFill>
                  <a:srgbClr val="5B6B79"/>
                </a:solidFill>
                <a:latin typeface="Calibri"/>
                <a:ea typeface="Calibri"/>
                <a:cs typeface="Calibri"/>
                <a:sym typeface="Calibri"/>
              </a:rPr>
              <a:t>SHAP Feature Importance — average contribution</a:t>
            </a:r>
            <a:endParaRPr b="0" i="0" sz="1050" u="none" cap="none" strike="noStrike">
              <a:solidFill>
                <a:schemeClr val="dk1"/>
              </a:solidFill>
              <a:latin typeface="Calibri"/>
              <a:ea typeface="Calibri"/>
              <a:cs typeface="Calibri"/>
              <a:sym typeface="Calibri"/>
            </a:endParaRPr>
          </a:p>
        </p:txBody>
      </p:sp>
      <p:sp>
        <p:nvSpPr>
          <p:cNvPr id="383" name="Google Shape;383;p18"/>
          <p:cNvSpPr/>
          <p:nvPr/>
        </p:nvSpPr>
        <p:spPr>
          <a:xfrm>
            <a:off x="6172200" y="5806440"/>
            <a:ext cx="54406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050"/>
              <a:buFont typeface="Calibri"/>
              <a:buNone/>
            </a:pPr>
            <a:r>
              <a:rPr b="0" i="1" lang="en-US" sz="1050" u="none" cap="none" strike="noStrike">
                <a:solidFill>
                  <a:srgbClr val="5B6B79"/>
                </a:solidFill>
                <a:latin typeface="Calibri"/>
                <a:ea typeface="Calibri"/>
                <a:cs typeface="Calibri"/>
                <a:sym typeface="Calibri"/>
              </a:rPr>
              <a:t>SHAP Summary — direction of influence (red = high value)</a:t>
            </a:r>
            <a:endParaRPr b="0" i="0" sz="1050" u="none" cap="none" strike="noStrike">
              <a:solidFill>
                <a:schemeClr val="dk1"/>
              </a:solidFill>
              <a:latin typeface="Calibri"/>
              <a:ea typeface="Calibri"/>
              <a:cs typeface="Calibri"/>
              <a:sym typeface="Calibri"/>
            </a:endParaRPr>
          </a:p>
        </p:txBody>
      </p:sp>
      <p:sp>
        <p:nvSpPr>
          <p:cNvPr id="384" name="Google Shape;384;p18"/>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385" name="Google Shape;385;p18"/>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pic>
        <p:nvPicPr>
          <p:cNvPr id="386" name="Google Shape;386;p18"/>
          <p:cNvPicPr preferRelativeResize="0"/>
          <p:nvPr/>
        </p:nvPicPr>
        <p:blipFill>
          <a:blip r:embed="rId4">
            <a:alphaModFix/>
          </a:blip>
          <a:stretch>
            <a:fillRect/>
          </a:stretch>
        </p:blipFill>
        <p:spPr>
          <a:xfrm>
            <a:off x="1123950" y="1478275"/>
            <a:ext cx="4036676" cy="4175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20"/>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Deployment</a:t>
            </a:r>
            <a:endParaRPr b="0" i="0" sz="3000" u="none" cap="none" strike="noStrike">
              <a:solidFill>
                <a:schemeClr val="dk1"/>
              </a:solidFill>
              <a:latin typeface="Calibri"/>
              <a:ea typeface="Calibri"/>
              <a:cs typeface="Calibri"/>
              <a:sym typeface="Calibri"/>
            </a:endParaRPr>
          </a:p>
        </p:txBody>
      </p:sp>
      <p:sp>
        <p:nvSpPr>
          <p:cNvPr id="393" name="Google Shape;393;p20"/>
          <p:cNvSpPr/>
          <p:nvPr/>
        </p:nvSpPr>
        <p:spPr>
          <a:xfrm>
            <a:off x="548640" y="960120"/>
            <a:ext cx="11091672"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400"/>
              <a:buFont typeface="Calibri"/>
              <a:buNone/>
            </a:pPr>
            <a:r>
              <a:rPr b="0" i="1" lang="en-US" sz="1400" u="none" cap="none" strike="noStrike">
                <a:solidFill>
                  <a:srgbClr val="5B6B79"/>
                </a:solidFill>
                <a:latin typeface="Calibri"/>
                <a:ea typeface="Calibri"/>
                <a:cs typeface="Calibri"/>
                <a:sym typeface="Calibri"/>
              </a:rPr>
              <a:t>Interactive Streamlit application, containerized with Docker</a:t>
            </a:r>
            <a:endParaRPr b="0" i="0" sz="1400" u="none" cap="none" strike="noStrike">
              <a:solidFill>
                <a:schemeClr val="dk1"/>
              </a:solidFill>
              <a:latin typeface="Calibri"/>
              <a:ea typeface="Calibri"/>
              <a:cs typeface="Calibri"/>
              <a:sym typeface="Calibri"/>
            </a:endParaRPr>
          </a:p>
        </p:txBody>
      </p:sp>
      <p:sp>
        <p:nvSpPr>
          <p:cNvPr id="394" name="Google Shape;394;p20"/>
          <p:cNvSpPr/>
          <p:nvPr/>
        </p:nvSpPr>
        <p:spPr>
          <a:xfrm>
            <a:off x="548640" y="5440680"/>
            <a:ext cx="667512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79"/>
              </a:buClr>
              <a:buSzPts val="1050"/>
              <a:buFont typeface="Calibri"/>
              <a:buNone/>
            </a:pPr>
            <a:r>
              <a:rPr b="0" i="1" lang="en-US" sz="1050" u="none" cap="none" strike="noStrike">
                <a:solidFill>
                  <a:srgbClr val="5B6B79"/>
                </a:solidFill>
                <a:latin typeface="Calibri"/>
                <a:ea typeface="Calibri"/>
                <a:cs typeface="Calibri"/>
                <a:sym typeface="Calibri"/>
              </a:rPr>
              <a:t>Streamlit application — home screen</a:t>
            </a:r>
            <a:endParaRPr b="0" i="0" sz="1050" u="none" cap="none" strike="noStrike">
              <a:solidFill>
                <a:schemeClr val="dk1"/>
              </a:solidFill>
              <a:latin typeface="Calibri"/>
              <a:ea typeface="Calibri"/>
              <a:cs typeface="Calibri"/>
              <a:sym typeface="Calibri"/>
            </a:endParaRPr>
          </a:p>
        </p:txBody>
      </p:sp>
      <p:sp>
        <p:nvSpPr>
          <p:cNvPr id="395" name="Google Shape;395;p20"/>
          <p:cNvSpPr/>
          <p:nvPr/>
        </p:nvSpPr>
        <p:spPr>
          <a:xfrm>
            <a:off x="7452360" y="1508760"/>
            <a:ext cx="4160520" cy="489204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0"/>
          <p:cNvSpPr/>
          <p:nvPr/>
        </p:nvSpPr>
        <p:spPr>
          <a:xfrm>
            <a:off x="7680960" y="1691640"/>
            <a:ext cx="3749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400"/>
              <a:buFont typeface="Cambria"/>
              <a:buNone/>
            </a:pPr>
            <a:r>
              <a:rPr b="1" i="0" lang="en-US" sz="1400" u="none" cap="none" strike="noStrike">
                <a:solidFill>
                  <a:srgbClr val="0B2E4F"/>
                </a:solidFill>
                <a:latin typeface="Cambria"/>
                <a:ea typeface="Cambria"/>
                <a:cs typeface="Cambria"/>
                <a:sym typeface="Cambria"/>
              </a:rPr>
              <a:t>App Features</a:t>
            </a:r>
            <a:endParaRPr b="0" i="0" sz="1400" u="none" cap="none" strike="noStrike">
              <a:solidFill>
                <a:schemeClr val="dk1"/>
              </a:solidFill>
              <a:latin typeface="Calibri"/>
              <a:ea typeface="Calibri"/>
              <a:cs typeface="Calibri"/>
              <a:sym typeface="Calibri"/>
            </a:endParaRPr>
          </a:p>
        </p:txBody>
      </p:sp>
      <p:sp>
        <p:nvSpPr>
          <p:cNvPr id="397" name="Google Shape;397;p20"/>
          <p:cNvSpPr/>
          <p:nvPr/>
        </p:nvSpPr>
        <p:spPr>
          <a:xfrm>
            <a:off x="7680960" y="2103120"/>
            <a:ext cx="274320" cy="2743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0"/>
          <p:cNvSpPr/>
          <p:nvPr/>
        </p:nvSpPr>
        <p:spPr>
          <a:xfrm>
            <a:off x="7680960" y="2103120"/>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399" name="Google Shape;399;p20"/>
          <p:cNvSpPr/>
          <p:nvPr/>
        </p:nvSpPr>
        <p:spPr>
          <a:xfrm>
            <a:off x="8092440" y="2057400"/>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Dataset Exploration</a:t>
            </a:r>
            <a:endParaRPr b="0" i="0" sz="1150" u="none" cap="none" strike="noStrike">
              <a:solidFill>
                <a:schemeClr val="dk1"/>
              </a:solidFill>
              <a:latin typeface="Calibri"/>
              <a:ea typeface="Calibri"/>
              <a:cs typeface="Calibri"/>
              <a:sym typeface="Calibri"/>
            </a:endParaRPr>
          </a:p>
        </p:txBody>
      </p:sp>
      <p:sp>
        <p:nvSpPr>
          <p:cNvPr id="400" name="Google Shape;400;p20"/>
          <p:cNvSpPr/>
          <p:nvPr/>
        </p:nvSpPr>
        <p:spPr>
          <a:xfrm>
            <a:off x="7680960" y="2560320"/>
            <a:ext cx="274320" cy="27432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0"/>
          <p:cNvSpPr/>
          <p:nvPr/>
        </p:nvSpPr>
        <p:spPr>
          <a:xfrm>
            <a:off x="7680960" y="2560320"/>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02" name="Google Shape;402;p20"/>
          <p:cNvSpPr/>
          <p:nvPr/>
        </p:nvSpPr>
        <p:spPr>
          <a:xfrm>
            <a:off x="8092440" y="2514600"/>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Interactive EDA visualizations</a:t>
            </a:r>
            <a:endParaRPr b="0" i="0" sz="1150" u="none" cap="none" strike="noStrike">
              <a:solidFill>
                <a:schemeClr val="dk1"/>
              </a:solidFill>
              <a:latin typeface="Calibri"/>
              <a:ea typeface="Calibri"/>
              <a:cs typeface="Calibri"/>
              <a:sym typeface="Calibri"/>
            </a:endParaRPr>
          </a:p>
        </p:txBody>
      </p:sp>
      <p:sp>
        <p:nvSpPr>
          <p:cNvPr id="403" name="Google Shape;403;p20"/>
          <p:cNvSpPr/>
          <p:nvPr/>
        </p:nvSpPr>
        <p:spPr>
          <a:xfrm>
            <a:off x="7680960" y="3017520"/>
            <a:ext cx="274320" cy="2743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0"/>
          <p:cNvSpPr/>
          <p:nvPr/>
        </p:nvSpPr>
        <p:spPr>
          <a:xfrm>
            <a:off x="7680960" y="3017520"/>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05" name="Google Shape;405;p20"/>
          <p:cNvSpPr/>
          <p:nvPr/>
        </p:nvSpPr>
        <p:spPr>
          <a:xfrm>
            <a:off x="8092440" y="2971800"/>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Model Evaluation Dashboard</a:t>
            </a:r>
            <a:endParaRPr b="0" i="0" sz="1150" u="none" cap="none" strike="noStrike">
              <a:solidFill>
                <a:schemeClr val="dk1"/>
              </a:solidFill>
              <a:latin typeface="Calibri"/>
              <a:ea typeface="Calibri"/>
              <a:cs typeface="Calibri"/>
              <a:sym typeface="Calibri"/>
            </a:endParaRPr>
          </a:p>
        </p:txBody>
      </p:sp>
      <p:sp>
        <p:nvSpPr>
          <p:cNvPr id="406" name="Google Shape;406;p20"/>
          <p:cNvSpPr/>
          <p:nvPr/>
        </p:nvSpPr>
        <p:spPr>
          <a:xfrm>
            <a:off x="7680960" y="3474720"/>
            <a:ext cx="274320" cy="27432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0"/>
          <p:cNvSpPr/>
          <p:nvPr/>
        </p:nvSpPr>
        <p:spPr>
          <a:xfrm>
            <a:off x="7680960" y="3474720"/>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08" name="Google Shape;408;p20"/>
          <p:cNvSpPr/>
          <p:nvPr/>
        </p:nvSpPr>
        <p:spPr>
          <a:xfrm>
            <a:off x="8092440" y="3429000"/>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Feature Importance Analysis</a:t>
            </a:r>
            <a:endParaRPr b="0" i="0" sz="1150" u="none" cap="none" strike="noStrike">
              <a:solidFill>
                <a:schemeClr val="dk1"/>
              </a:solidFill>
              <a:latin typeface="Calibri"/>
              <a:ea typeface="Calibri"/>
              <a:cs typeface="Calibri"/>
              <a:sym typeface="Calibri"/>
            </a:endParaRPr>
          </a:p>
        </p:txBody>
      </p:sp>
      <p:sp>
        <p:nvSpPr>
          <p:cNvPr id="409" name="Google Shape;409;p20"/>
          <p:cNvSpPr/>
          <p:nvPr/>
        </p:nvSpPr>
        <p:spPr>
          <a:xfrm>
            <a:off x="7680960" y="3931920"/>
            <a:ext cx="274320" cy="27432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0"/>
          <p:cNvSpPr/>
          <p:nvPr/>
        </p:nvSpPr>
        <p:spPr>
          <a:xfrm>
            <a:off x="7680960" y="3931920"/>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11" name="Google Shape;411;p20"/>
          <p:cNvSpPr/>
          <p:nvPr/>
        </p:nvSpPr>
        <p:spPr>
          <a:xfrm>
            <a:off x="8092440" y="3886200"/>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SHAP Explainability</a:t>
            </a:r>
            <a:endParaRPr b="0" i="0" sz="1150" u="none" cap="none" strike="noStrike">
              <a:solidFill>
                <a:schemeClr val="dk1"/>
              </a:solidFill>
              <a:latin typeface="Calibri"/>
              <a:ea typeface="Calibri"/>
              <a:cs typeface="Calibri"/>
              <a:sym typeface="Calibri"/>
            </a:endParaRPr>
          </a:p>
        </p:txBody>
      </p:sp>
      <p:sp>
        <p:nvSpPr>
          <p:cNvPr id="412" name="Google Shape;412;p20"/>
          <p:cNvSpPr/>
          <p:nvPr/>
        </p:nvSpPr>
        <p:spPr>
          <a:xfrm>
            <a:off x="7680960" y="4389120"/>
            <a:ext cx="274320" cy="27432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p:nvPr/>
        </p:nvSpPr>
        <p:spPr>
          <a:xfrm>
            <a:off x="7680960" y="4389120"/>
            <a:ext cx="2743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14" name="Google Shape;414;p20"/>
          <p:cNvSpPr/>
          <p:nvPr/>
        </p:nvSpPr>
        <p:spPr>
          <a:xfrm>
            <a:off x="8092440" y="4343400"/>
            <a:ext cx="33832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Interactive Price Prediction</a:t>
            </a:r>
            <a:endParaRPr b="0" i="0" sz="1150" u="none" cap="none" strike="noStrike">
              <a:solidFill>
                <a:schemeClr val="dk1"/>
              </a:solidFill>
              <a:latin typeface="Calibri"/>
              <a:ea typeface="Calibri"/>
              <a:cs typeface="Calibri"/>
              <a:sym typeface="Calibri"/>
            </a:endParaRPr>
          </a:p>
        </p:txBody>
      </p:sp>
      <p:sp>
        <p:nvSpPr>
          <p:cNvPr id="415" name="Google Shape;415;p20"/>
          <p:cNvSpPr/>
          <p:nvPr/>
        </p:nvSpPr>
        <p:spPr>
          <a:xfrm>
            <a:off x="7680960" y="4983480"/>
            <a:ext cx="3749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mbria"/>
              <a:buNone/>
            </a:pPr>
            <a:r>
              <a:rPr b="1" i="0" lang="en-US" sz="1300" u="none" cap="none" strike="noStrike">
                <a:solidFill>
                  <a:srgbClr val="1C7293"/>
                </a:solidFill>
                <a:latin typeface="Cambria"/>
                <a:ea typeface="Cambria"/>
                <a:cs typeface="Cambria"/>
                <a:sym typeface="Cambria"/>
              </a:rPr>
              <a:t>Deployment Stack</a:t>
            </a:r>
            <a:endParaRPr b="0" i="0" sz="1300" u="none" cap="none" strike="noStrike">
              <a:solidFill>
                <a:schemeClr val="dk1"/>
              </a:solidFill>
              <a:latin typeface="Calibri"/>
              <a:ea typeface="Calibri"/>
              <a:cs typeface="Calibri"/>
              <a:sym typeface="Calibri"/>
            </a:endParaRPr>
          </a:p>
        </p:txBody>
      </p:sp>
      <p:sp>
        <p:nvSpPr>
          <p:cNvPr id="416" name="Google Shape;416;p20"/>
          <p:cNvSpPr/>
          <p:nvPr/>
        </p:nvSpPr>
        <p:spPr>
          <a:xfrm>
            <a:off x="7680960" y="5321808"/>
            <a:ext cx="37490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430"/>
              </a:buClr>
              <a:buSzPts val="1100"/>
              <a:buFont typeface="Calibri"/>
              <a:buNone/>
            </a:pPr>
            <a:r>
              <a:rPr b="0" i="0" lang="en-US" sz="1100" u="none" cap="none" strike="noStrike">
                <a:solidFill>
                  <a:srgbClr val="1A2430"/>
                </a:solidFill>
                <a:latin typeface="Calibri"/>
                <a:ea typeface="Calibri"/>
                <a:cs typeface="Calibri"/>
                <a:sym typeface="Calibri"/>
              </a:rPr>
              <a:t>Streamlit Cloud (hosting)  ·  Docker (containerization)  ·  Docker Hub (image registry)</a:t>
            </a:r>
            <a:endParaRPr b="0" i="0" sz="1100" u="none" cap="none" strike="noStrike">
              <a:solidFill>
                <a:schemeClr val="dk1"/>
              </a:solidFill>
              <a:latin typeface="Calibri"/>
              <a:ea typeface="Calibri"/>
              <a:cs typeface="Calibri"/>
              <a:sym typeface="Calibri"/>
            </a:endParaRPr>
          </a:p>
        </p:txBody>
      </p:sp>
      <p:sp>
        <p:nvSpPr>
          <p:cNvPr id="417" name="Google Shape;417;p20"/>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418" name="Google Shape;418;p20"/>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pic>
        <p:nvPicPr>
          <p:cNvPr descr="/home/claude/extracted_images/fig13_shap_waterfall.jpg" id="419" name="Google Shape;419;p20"/>
          <p:cNvPicPr preferRelativeResize="0"/>
          <p:nvPr/>
        </p:nvPicPr>
        <p:blipFill rotWithShape="1">
          <a:blip r:embed="rId3">
            <a:alphaModFix/>
          </a:blip>
          <a:srcRect b="0" l="0" r="0" t="0"/>
          <a:stretch/>
        </p:blipFill>
        <p:spPr>
          <a:xfrm>
            <a:off x="220975" y="1508750"/>
            <a:ext cx="7002774" cy="4663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21"/>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Conclusion</a:t>
            </a:r>
            <a:endParaRPr b="0" i="0" sz="3000" u="none" cap="none" strike="noStrike">
              <a:solidFill>
                <a:schemeClr val="dk1"/>
              </a:solidFill>
              <a:latin typeface="Calibri"/>
              <a:ea typeface="Calibri"/>
              <a:cs typeface="Calibri"/>
              <a:sym typeface="Calibri"/>
            </a:endParaRPr>
          </a:p>
        </p:txBody>
      </p:sp>
      <p:sp>
        <p:nvSpPr>
          <p:cNvPr id="426" name="Google Shape;426;p21"/>
          <p:cNvSpPr/>
          <p:nvPr/>
        </p:nvSpPr>
        <p:spPr>
          <a:xfrm>
            <a:off x="548640" y="1417320"/>
            <a:ext cx="11091672"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1A2430"/>
              </a:buClr>
              <a:buSzPts val="1400"/>
              <a:buFont typeface="Calibri"/>
              <a:buNone/>
            </a:pPr>
            <a:r>
              <a:rPr b="0" i="0" lang="en-US" sz="1400" u="none" cap="none" strike="noStrike">
                <a:solidFill>
                  <a:srgbClr val="1A2430"/>
                </a:solidFill>
                <a:latin typeface="Calibri"/>
                <a:ea typeface="Calibri"/>
                <a:cs typeface="Calibri"/>
                <a:sym typeface="Calibri"/>
              </a:rPr>
              <a:t>This project successfully developed an end-to-end machine learning regression system for residential house price prediction using the Ames Housing Dataset — covering the complete workflow from data understanding to deployment.</a:t>
            </a:r>
            <a:endParaRPr b="0" i="0" sz="1400" u="none" cap="none" strike="noStrike">
              <a:solidFill>
                <a:schemeClr val="dk1"/>
              </a:solidFill>
              <a:latin typeface="Calibri"/>
              <a:ea typeface="Calibri"/>
              <a:cs typeface="Calibri"/>
              <a:sym typeface="Calibri"/>
            </a:endParaRPr>
          </a:p>
        </p:txBody>
      </p:sp>
      <p:sp>
        <p:nvSpPr>
          <p:cNvPr id="427" name="Google Shape;427;p21"/>
          <p:cNvSpPr/>
          <p:nvPr/>
        </p:nvSpPr>
        <p:spPr>
          <a:xfrm>
            <a:off x="548640" y="242316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1"/>
          <p:cNvSpPr/>
          <p:nvPr/>
        </p:nvSpPr>
        <p:spPr>
          <a:xfrm>
            <a:off x="685800" y="251460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1</a:t>
            </a:r>
            <a:endParaRPr b="0" i="0" sz="2000" u="none" cap="none" strike="noStrike">
              <a:solidFill>
                <a:schemeClr val="dk1"/>
              </a:solidFill>
              <a:latin typeface="Calibri"/>
              <a:ea typeface="Calibri"/>
              <a:cs typeface="Calibri"/>
              <a:sym typeface="Calibri"/>
            </a:endParaRPr>
          </a:p>
        </p:txBody>
      </p:sp>
      <p:sp>
        <p:nvSpPr>
          <p:cNvPr id="429" name="Google Shape;429;p21"/>
          <p:cNvSpPr/>
          <p:nvPr/>
        </p:nvSpPr>
        <p:spPr>
          <a:xfrm>
            <a:off x="685800" y="295351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Data Understanding</a:t>
            </a:r>
            <a:endParaRPr b="0" i="0" sz="1200" u="none" cap="none" strike="noStrike">
              <a:solidFill>
                <a:schemeClr val="dk1"/>
              </a:solidFill>
              <a:latin typeface="Calibri"/>
              <a:ea typeface="Calibri"/>
              <a:cs typeface="Calibri"/>
              <a:sym typeface="Calibri"/>
            </a:endParaRPr>
          </a:p>
        </p:txBody>
      </p:sp>
      <p:sp>
        <p:nvSpPr>
          <p:cNvPr id="430" name="Google Shape;430;p21"/>
          <p:cNvSpPr/>
          <p:nvPr/>
        </p:nvSpPr>
        <p:spPr>
          <a:xfrm>
            <a:off x="4325112" y="242316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
          <p:cNvSpPr/>
          <p:nvPr/>
        </p:nvSpPr>
        <p:spPr>
          <a:xfrm>
            <a:off x="4462272" y="251460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2</a:t>
            </a:r>
            <a:endParaRPr b="0" i="0" sz="2000" u="none" cap="none" strike="noStrike">
              <a:solidFill>
                <a:schemeClr val="dk1"/>
              </a:solidFill>
              <a:latin typeface="Calibri"/>
              <a:ea typeface="Calibri"/>
              <a:cs typeface="Calibri"/>
              <a:sym typeface="Calibri"/>
            </a:endParaRPr>
          </a:p>
        </p:txBody>
      </p:sp>
      <p:sp>
        <p:nvSpPr>
          <p:cNvPr id="432" name="Google Shape;432;p21"/>
          <p:cNvSpPr/>
          <p:nvPr/>
        </p:nvSpPr>
        <p:spPr>
          <a:xfrm>
            <a:off x="4462272" y="295351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Cleaning &amp; Preprocessing</a:t>
            </a:r>
            <a:endParaRPr b="0" i="0" sz="1200" u="none" cap="none" strike="noStrike">
              <a:solidFill>
                <a:schemeClr val="dk1"/>
              </a:solidFill>
              <a:latin typeface="Calibri"/>
              <a:ea typeface="Calibri"/>
              <a:cs typeface="Calibri"/>
              <a:sym typeface="Calibri"/>
            </a:endParaRPr>
          </a:p>
        </p:txBody>
      </p:sp>
      <p:sp>
        <p:nvSpPr>
          <p:cNvPr id="433" name="Google Shape;433;p21"/>
          <p:cNvSpPr/>
          <p:nvPr/>
        </p:nvSpPr>
        <p:spPr>
          <a:xfrm>
            <a:off x="8101584" y="242316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1"/>
          <p:cNvSpPr/>
          <p:nvPr/>
        </p:nvSpPr>
        <p:spPr>
          <a:xfrm>
            <a:off x="8238744" y="251460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3</a:t>
            </a:r>
            <a:endParaRPr b="0" i="0" sz="2000" u="none" cap="none" strike="noStrike">
              <a:solidFill>
                <a:schemeClr val="dk1"/>
              </a:solidFill>
              <a:latin typeface="Calibri"/>
              <a:ea typeface="Calibri"/>
              <a:cs typeface="Calibri"/>
              <a:sym typeface="Calibri"/>
            </a:endParaRPr>
          </a:p>
        </p:txBody>
      </p:sp>
      <p:sp>
        <p:nvSpPr>
          <p:cNvPr id="435" name="Google Shape;435;p21"/>
          <p:cNvSpPr/>
          <p:nvPr/>
        </p:nvSpPr>
        <p:spPr>
          <a:xfrm>
            <a:off x="8238744" y="295351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Exploratory Analysis</a:t>
            </a:r>
            <a:endParaRPr b="0" i="0" sz="1200" u="none" cap="none" strike="noStrike">
              <a:solidFill>
                <a:schemeClr val="dk1"/>
              </a:solidFill>
              <a:latin typeface="Calibri"/>
              <a:ea typeface="Calibri"/>
              <a:cs typeface="Calibri"/>
              <a:sym typeface="Calibri"/>
            </a:endParaRPr>
          </a:p>
        </p:txBody>
      </p:sp>
      <p:sp>
        <p:nvSpPr>
          <p:cNvPr id="436" name="Google Shape;436;p21"/>
          <p:cNvSpPr/>
          <p:nvPr/>
        </p:nvSpPr>
        <p:spPr>
          <a:xfrm>
            <a:off x="548640" y="361188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1"/>
          <p:cNvSpPr/>
          <p:nvPr/>
        </p:nvSpPr>
        <p:spPr>
          <a:xfrm>
            <a:off x="685800" y="370332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4</a:t>
            </a:r>
            <a:endParaRPr b="0" i="0" sz="2000" u="none" cap="none" strike="noStrike">
              <a:solidFill>
                <a:schemeClr val="dk1"/>
              </a:solidFill>
              <a:latin typeface="Calibri"/>
              <a:ea typeface="Calibri"/>
              <a:cs typeface="Calibri"/>
              <a:sym typeface="Calibri"/>
            </a:endParaRPr>
          </a:p>
        </p:txBody>
      </p:sp>
      <p:sp>
        <p:nvSpPr>
          <p:cNvPr id="438" name="Google Shape;438;p21"/>
          <p:cNvSpPr/>
          <p:nvPr/>
        </p:nvSpPr>
        <p:spPr>
          <a:xfrm>
            <a:off x="685800" y="414223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Feature Engineering</a:t>
            </a:r>
            <a:endParaRPr b="0" i="0" sz="1200" u="none" cap="none" strike="noStrike">
              <a:solidFill>
                <a:schemeClr val="dk1"/>
              </a:solidFill>
              <a:latin typeface="Calibri"/>
              <a:ea typeface="Calibri"/>
              <a:cs typeface="Calibri"/>
              <a:sym typeface="Calibri"/>
            </a:endParaRPr>
          </a:p>
        </p:txBody>
      </p:sp>
      <p:sp>
        <p:nvSpPr>
          <p:cNvPr id="439" name="Google Shape;439;p21"/>
          <p:cNvSpPr/>
          <p:nvPr/>
        </p:nvSpPr>
        <p:spPr>
          <a:xfrm>
            <a:off x="4325112" y="361188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1"/>
          <p:cNvSpPr/>
          <p:nvPr/>
        </p:nvSpPr>
        <p:spPr>
          <a:xfrm>
            <a:off x="4462272" y="370332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5</a:t>
            </a:r>
            <a:endParaRPr b="0" i="0" sz="2000" u="none" cap="none" strike="noStrike">
              <a:solidFill>
                <a:schemeClr val="dk1"/>
              </a:solidFill>
              <a:latin typeface="Calibri"/>
              <a:ea typeface="Calibri"/>
              <a:cs typeface="Calibri"/>
              <a:sym typeface="Calibri"/>
            </a:endParaRPr>
          </a:p>
        </p:txBody>
      </p:sp>
      <p:sp>
        <p:nvSpPr>
          <p:cNvPr id="441" name="Google Shape;441;p21"/>
          <p:cNvSpPr/>
          <p:nvPr/>
        </p:nvSpPr>
        <p:spPr>
          <a:xfrm>
            <a:off x="4462272" y="414223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Model Development</a:t>
            </a:r>
            <a:endParaRPr b="0" i="0" sz="1200" u="none" cap="none" strike="noStrike">
              <a:solidFill>
                <a:schemeClr val="dk1"/>
              </a:solidFill>
              <a:latin typeface="Calibri"/>
              <a:ea typeface="Calibri"/>
              <a:cs typeface="Calibri"/>
              <a:sym typeface="Calibri"/>
            </a:endParaRPr>
          </a:p>
        </p:txBody>
      </p:sp>
      <p:sp>
        <p:nvSpPr>
          <p:cNvPr id="442" name="Google Shape;442;p21"/>
          <p:cNvSpPr/>
          <p:nvPr/>
        </p:nvSpPr>
        <p:spPr>
          <a:xfrm>
            <a:off x="8101584" y="361188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1"/>
          <p:cNvSpPr/>
          <p:nvPr/>
        </p:nvSpPr>
        <p:spPr>
          <a:xfrm>
            <a:off x="8238744" y="370332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6</a:t>
            </a:r>
            <a:endParaRPr b="0" i="0" sz="2000" u="none" cap="none" strike="noStrike">
              <a:solidFill>
                <a:schemeClr val="dk1"/>
              </a:solidFill>
              <a:latin typeface="Calibri"/>
              <a:ea typeface="Calibri"/>
              <a:cs typeface="Calibri"/>
              <a:sym typeface="Calibri"/>
            </a:endParaRPr>
          </a:p>
        </p:txBody>
      </p:sp>
      <p:sp>
        <p:nvSpPr>
          <p:cNvPr id="444" name="Google Shape;444;p21"/>
          <p:cNvSpPr/>
          <p:nvPr/>
        </p:nvSpPr>
        <p:spPr>
          <a:xfrm>
            <a:off x="8238744" y="414223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Hyperparameter Tuning</a:t>
            </a:r>
            <a:endParaRPr b="0" i="0" sz="1200" u="none" cap="none" strike="noStrike">
              <a:solidFill>
                <a:schemeClr val="dk1"/>
              </a:solidFill>
              <a:latin typeface="Calibri"/>
              <a:ea typeface="Calibri"/>
              <a:cs typeface="Calibri"/>
              <a:sym typeface="Calibri"/>
            </a:endParaRPr>
          </a:p>
        </p:txBody>
      </p:sp>
      <p:sp>
        <p:nvSpPr>
          <p:cNvPr id="445" name="Google Shape;445;p21"/>
          <p:cNvSpPr/>
          <p:nvPr/>
        </p:nvSpPr>
        <p:spPr>
          <a:xfrm>
            <a:off x="548640" y="480060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1"/>
          <p:cNvSpPr/>
          <p:nvPr/>
        </p:nvSpPr>
        <p:spPr>
          <a:xfrm>
            <a:off x="685800" y="489204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7</a:t>
            </a:r>
            <a:endParaRPr b="0" i="0" sz="2000" u="none" cap="none" strike="noStrike">
              <a:solidFill>
                <a:schemeClr val="dk1"/>
              </a:solidFill>
              <a:latin typeface="Calibri"/>
              <a:ea typeface="Calibri"/>
              <a:cs typeface="Calibri"/>
              <a:sym typeface="Calibri"/>
            </a:endParaRPr>
          </a:p>
        </p:txBody>
      </p:sp>
      <p:sp>
        <p:nvSpPr>
          <p:cNvPr id="447" name="Google Shape;447;p21"/>
          <p:cNvSpPr/>
          <p:nvPr/>
        </p:nvSpPr>
        <p:spPr>
          <a:xfrm>
            <a:off x="685800" y="533095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Evaluation &amp; Comparison</a:t>
            </a:r>
            <a:endParaRPr b="0" i="0" sz="1200" u="none" cap="none" strike="noStrike">
              <a:solidFill>
                <a:schemeClr val="dk1"/>
              </a:solidFill>
              <a:latin typeface="Calibri"/>
              <a:ea typeface="Calibri"/>
              <a:cs typeface="Calibri"/>
              <a:sym typeface="Calibri"/>
            </a:endParaRPr>
          </a:p>
        </p:txBody>
      </p:sp>
      <p:sp>
        <p:nvSpPr>
          <p:cNvPr id="448" name="Google Shape;448;p21"/>
          <p:cNvSpPr/>
          <p:nvPr/>
        </p:nvSpPr>
        <p:spPr>
          <a:xfrm>
            <a:off x="4325112" y="4800600"/>
            <a:ext cx="3657600" cy="105156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4462272" y="489204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2000"/>
              <a:buFont typeface="Cambria"/>
              <a:buNone/>
            </a:pPr>
            <a:r>
              <a:rPr b="1" i="0" lang="en-US" sz="2000" u="none" cap="none" strike="noStrike">
                <a:solidFill>
                  <a:srgbClr val="1C7293"/>
                </a:solidFill>
                <a:latin typeface="Cambria"/>
                <a:ea typeface="Cambria"/>
                <a:cs typeface="Cambria"/>
                <a:sym typeface="Cambria"/>
              </a:rPr>
              <a:t>8</a:t>
            </a:r>
            <a:endParaRPr b="0" i="0" sz="2000" u="none" cap="none" strike="noStrike">
              <a:solidFill>
                <a:schemeClr val="dk1"/>
              </a:solidFill>
              <a:latin typeface="Calibri"/>
              <a:ea typeface="Calibri"/>
              <a:cs typeface="Calibri"/>
              <a:sym typeface="Calibri"/>
            </a:endParaRPr>
          </a:p>
        </p:txBody>
      </p:sp>
      <p:sp>
        <p:nvSpPr>
          <p:cNvPr id="450" name="Google Shape;450;p21"/>
          <p:cNvSpPr/>
          <p:nvPr/>
        </p:nvSpPr>
        <p:spPr>
          <a:xfrm>
            <a:off x="4462272" y="533095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200"/>
              <a:buFont typeface="Calibri"/>
              <a:buNone/>
            </a:pPr>
            <a:r>
              <a:rPr b="1" i="0" lang="en-US" sz="1200" u="none" cap="none" strike="noStrike">
                <a:solidFill>
                  <a:srgbClr val="0B2E4F"/>
                </a:solidFill>
                <a:latin typeface="Calibri"/>
                <a:ea typeface="Calibri"/>
                <a:cs typeface="Calibri"/>
                <a:sym typeface="Calibri"/>
              </a:rPr>
              <a:t>Explainability</a:t>
            </a:r>
            <a:endParaRPr b="0" i="0" sz="1200" u="none" cap="none" strike="noStrike">
              <a:solidFill>
                <a:schemeClr val="dk1"/>
              </a:solidFill>
              <a:latin typeface="Calibri"/>
              <a:ea typeface="Calibri"/>
              <a:cs typeface="Calibri"/>
              <a:sym typeface="Calibri"/>
            </a:endParaRPr>
          </a:p>
        </p:txBody>
      </p:sp>
      <p:sp>
        <p:nvSpPr>
          <p:cNvPr id="451" name="Google Shape;451;p21"/>
          <p:cNvSpPr/>
          <p:nvPr/>
        </p:nvSpPr>
        <p:spPr>
          <a:xfrm>
            <a:off x="8101584" y="4800600"/>
            <a:ext cx="3657600" cy="1051560"/>
          </a:xfrm>
          <a:prstGeom prst="rect">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8238744" y="4892040"/>
            <a:ext cx="457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9</a:t>
            </a:r>
            <a:endParaRPr b="0" i="0" sz="2000" u="none" cap="none" strike="noStrike">
              <a:solidFill>
                <a:schemeClr val="dk1"/>
              </a:solidFill>
              <a:latin typeface="Calibri"/>
              <a:ea typeface="Calibri"/>
              <a:cs typeface="Calibri"/>
              <a:sym typeface="Calibri"/>
            </a:endParaRPr>
          </a:p>
        </p:txBody>
      </p:sp>
      <p:sp>
        <p:nvSpPr>
          <p:cNvPr id="453" name="Google Shape;453;p21"/>
          <p:cNvSpPr/>
          <p:nvPr/>
        </p:nvSpPr>
        <p:spPr>
          <a:xfrm>
            <a:off x="8238744" y="5330952"/>
            <a:ext cx="3383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Deployment</a:t>
            </a:r>
            <a:endParaRPr b="0" i="0" sz="1200" u="none" cap="none" strike="noStrike">
              <a:solidFill>
                <a:schemeClr val="dk1"/>
              </a:solidFill>
              <a:latin typeface="Calibri"/>
              <a:ea typeface="Calibri"/>
              <a:cs typeface="Calibri"/>
              <a:sym typeface="Calibri"/>
            </a:endParaRPr>
          </a:p>
        </p:txBody>
      </p:sp>
      <p:sp>
        <p:nvSpPr>
          <p:cNvPr id="454" name="Google Shape;454;p21"/>
          <p:cNvSpPr/>
          <p:nvPr/>
        </p:nvSpPr>
        <p:spPr>
          <a:xfrm>
            <a:off x="548640" y="5989320"/>
            <a:ext cx="11091672"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1200"/>
              <a:buFont typeface="Calibri"/>
              <a:buNone/>
            </a:pPr>
            <a:r>
              <a:rPr b="0" i="1" lang="en-US" sz="1200" u="none" cap="none" strike="noStrike">
                <a:solidFill>
                  <a:srgbClr val="5B6B79"/>
                </a:solidFill>
                <a:latin typeface="Calibri"/>
                <a:ea typeface="Calibri"/>
                <a:cs typeface="Calibri"/>
                <a:sym typeface="Calibri"/>
              </a:rPr>
              <a:t>The final system provides both accurate house price predictions and interpretable insights into model decision-making — a complete machine learning solution from data processing to deployment.</a:t>
            </a:r>
            <a:endParaRPr b="0" i="0" sz="1200" u="none" cap="none" strike="noStrike">
              <a:solidFill>
                <a:schemeClr val="dk1"/>
              </a:solidFill>
              <a:latin typeface="Calibri"/>
              <a:ea typeface="Calibri"/>
              <a:cs typeface="Calibri"/>
              <a:sym typeface="Calibri"/>
            </a:endParaRPr>
          </a:p>
        </p:txBody>
      </p:sp>
      <p:sp>
        <p:nvSpPr>
          <p:cNvPr id="455" name="Google Shape;455;p21"/>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456" name="Google Shape;456;p21"/>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22"/>
          <p:cNvSpPr/>
          <p:nvPr/>
        </p:nvSpPr>
        <p:spPr>
          <a:xfrm>
            <a:off x="548640" y="365760"/>
            <a:ext cx="11091672"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3000"/>
              <a:buFont typeface="Cambria"/>
              <a:buNone/>
            </a:pPr>
            <a:r>
              <a:rPr b="1" i="0" lang="en-US" sz="3000" u="none" cap="none" strike="noStrike">
                <a:solidFill>
                  <a:srgbClr val="0B2E4F"/>
                </a:solidFill>
                <a:latin typeface="Cambria"/>
                <a:ea typeface="Cambria"/>
                <a:cs typeface="Cambria"/>
                <a:sym typeface="Cambria"/>
              </a:rPr>
              <a:t>Future Improvements</a:t>
            </a:r>
            <a:endParaRPr b="0" i="0" sz="3000" u="none" cap="none" strike="noStrike">
              <a:solidFill>
                <a:schemeClr val="dk1"/>
              </a:solidFill>
              <a:latin typeface="Calibri"/>
              <a:ea typeface="Calibri"/>
              <a:cs typeface="Calibri"/>
              <a:sym typeface="Calibri"/>
            </a:endParaRPr>
          </a:p>
        </p:txBody>
      </p:sp>
      <p:sp>
        <p:nvSpPr>
          <p:cNvPr id="463" name="Google Shape;463;p22"/>
          <p:cNvSpPr/>
          <p:nvPr/>
        </p:nvSpPr>
        <p:spPr>
          <a:xfrm>
            <a:off x="548650" y="1383026"/>
            <a:ext cx="5440800" cy="17868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2"/>
          <p:cNvSpPr/>
          <p:nvPr/>
        </p:nvSpPr>
        <p:spPr>
          <a:xfrm>
            <a:off x="777240" y="1783080"/>
            <a:ext cx="411480" cy="41148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2"/>
          <p:cNvSpPr/>
          <p:nvPr/>
        </p:nvSpPr>
        <p:spPr>
          <a:xfrm>
            <a:off x="777240" y="178308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1</a:t>
            </a:r>
            <a:endParaRPr b="0" i="0" sz="1350" u="none" cap="none" strike="noStrike">
              <a:solidFill>
                <a:schemeClr val="dk1"/>
              </a:solidFill>
              <a:latin typeface="Calibri"/>
              <a:ea typeface="Calibri"/>
              <a:cs typeface="Calibri"/>
              <a:sym typeface="Calibri"/>
            </a:endParaRPr>
          </a:p>
        </p:txBody>
      </p:sp>
      <p:sp>
        <p:nvSpPr>
          <p:cNvPr id="466" name="Google Shape;466;p22"/>
          <p:cNvSpPr/>
          <p:nvPr/>
        </p:nvSpPr>
        <p:spPr>
          <a:xfrm>
            <a:off x="1371600" y="1737360"/>
            <a:ext cx="43891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mbria"/>
              <a:buNone/>
            </a:pPr>
            <a:r>
              <a:rPr b="1" i="0" lang="en-US" sz="1350" u="none" cap="none" strike="noStrike">
                <a:solidFill>
                  <a:srgbClr val="0B2E4F"/>
                </a:solidFill>
                <a:latin typeface="Cambria"/>
                <a:ea typeface="Cambria"/>
                <a:cs typeface="Cambria"/>
                <a:sym typeface="Cambria"/>
              </a:rPr>
              <a:t>Advanced Hyperparameter Optimization</a:t>
            </a:r>
            <a:endParaRPr b="0" i="0" sz="1350" u="none" cap="none" strike="noStrike">
              <a:solidFill>
                <a:schemeClr val="dk1"/>
              </a:solidFill>
              <a:latin typeface="Calibri"/>
              <a:ea typeface="Calibri"/>
              <a:cs typeface="Calibri"/>
              <a:sym typeface="Calibri"/>
            </a:endParaRPr>
          </a:p>
        </p:txBody>
      </p:sp>
      <p:sp>
        <p:nvSpPr>
          <p:cNvPr id="467" name="Google Shape;467;p22"/>
          <p:cNvSpPr/>
          <p:nvPr/>
        </p:nvSpPr>
        <p:spPr>
          <a:xfrm>
            <a:off x="777250" y="2282177"/>
            <a:ext cx="49836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Bayesian Optimization, Optuna, or automated search strategies for further gains.</a:t>
            </a:r>
            <a:endParaRPr b="0" i="0" sz="1150" u="none" cap="none" strike="noStrike">
              <a:solidFill>
                <a:schemeClr val="dk1"/>
              </a:solidFill>
              <a:latin typeface="Calibri"/>
              <a:ea typeface="Calibri"/>
              <a:cs typeface="Calibri"/>
              <a:sym typeface="Calibri"/>
            </a:endParaRPr>
          </a:p>
        </p:txBody>
      </p:sp>
      <p:sp>
        <p:nvSpPr>
          <p:cNvPr id="468" name="Google Shape;468;p22"/>
          <p:cNvSpPr/>
          <p:nvPr/>
        </p:nvSpPr>
        <p:spPr>
          <a:xfrm>
            <a:off x="6217925" y="1268726"/>
            <a:ext cx="5440800" cy="16536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2"/>
          <p:cNvSpPr/>
          <p:nvPr/>
        </p:nvSpPr>
        <p:spPr>
          <a:xfrm>
            <a:off x="6446520" y="1783080"/>
            <a:ext cx="411480" cy="41148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2"/>
          <p:cNvSpPr/>
          <p:nvPr/>
        </p:nvSpPr>
        <p:spPr>
          <a:xfrm>
            <a:off x="6446520" y="178308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2</a:t>
            </a:r>
            <a:endParaRPr b="0" i="0" sz="1350" u="none" cap="none" strike="noStrike">
              <a:solidFill>
                <a:schemeClr val="dk1"/>
              </a:solidFill>
              <a:latin typeface="Calibri"/>
              <a:ea typeface="Calibri"/>
              <a:cs typeface="Calibri"/>
              <a:sym typeface="Calibri"/>
            </a:endParaRPr>
          </a:p>
        </p:txBody>
      </p:sp>
      <p:sp>
        <p:nvSpPr>
          <p:cNvPr id="471" name="Google Shape;471;p22"/>
          <p:cNvSpPr/>
          <p:nvPr/>
        </p:nvSpPr>
        <p:spPr>
          <a:xfrm>
            <a:off x="7040880" y="1718310"/>
            <a:ext cx="4389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mbria"/>
              <a:buNone/>
            </a:pPr>
            <a:r>
              <a:rPr b="1" i="0" lang="en-US" sz="1350" u="none" cap="none" strike="noStrike">
                <a:solidFill>
                  <a:srgbClr val="0B2E4F"/>
                </a:solidFill>
                <a:latin typeface="Cambria"/>
                <a:ea typeface="Cambria"/>
                <a:cs typeface="Cambria"/>
                <a:sym typeface="Cambria"/>
              </a:rPr>
              <a:t>Cloud Deployment Expansion</a:t>
            </a:r>
            <a:endParaRPr b="0" i="0" sz="1350" u="none" cap="none" strike="noStrike">
              <a:solidFill>
                <a:schemeClr val="dk1"/>
              </a:solidFill>
              <a:latin typeface="Calibri"/>
              <a:ea typeface="Calibri"/>
              <a:cs typeface="Calibri"/>
              <a:sym typeface="Calibri"/>
            </a:endParaRPr>
          </a:p>
        </p:txBody>
      </p:sp>
      <p:sp>
        <p:nvSpPr>
          <p:cNvPr id="472" name="Google Shape;472;p22"/>
          <p:cNvSpPr/>
          <p:nvPr/>
        </p:nvSpPr>
        <p:spPr>
          <a:xfrm>
            <a:off x="6446525" y="2423150"/>
            <a:ext cx="49836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Deploy via AWS, Microsoft Azure, or Google Cloud for scalability and accessibility.</a:t>
            </a:r>
            <a:endParaRPr b="0" i="0" sz="1150" u="none" cap="none" strike="noStrike">
              <a:solidFill>
                <a:schemeClr val="dk1"/>
              </a:solidFill>
              <a:latin typeface="Calibri"/>
              <a:ea typeface="Calibri"/>
              <a:cs typeface="Calibri"/>
              <a:sym typeface="Calibri"/>
            </a:endParaRPr>
          </a:p>
        </p:txBody>
      </p:sp>
      <p:sp>
        <p:nvSpPr>
          <p:cNvPr id="473" name="Google Shape;473;p22"/>
          <p:cNvSpPr/>
          <p:nvPr/>
        </p:nvSpPr>
        <p:spPr>
          <a:xfrm>
            <a:off x="548650" y="3356775"/>
            <a:ext cx="5440800" cy="15198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777240" y="3600450"/>
            <a:ext cx="411600" cy="4116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777240" y="3600450"/>
            <a:ext cx="4116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3</a:t>
            </a:r>
            <a:endParaRPr b="0" i="0" sz="1350" u="none" cap="none" strike="noStrike">
              <a:solidFill>
                <a:schemeClr val="dk1"/>
              </a:solidFill>
              <a:latin typeface="Calibri"/>
              <a:ea typeface="Calibri"/>
              <a:cs typeface="Calibri"/>
              <a:sym typeface="Calibri"/>
            </a:endParaRPr>
          </a:p>
        </p:txBody>
      </p:sp>
      <p:sp>
        <p:nvSpPr>
          <p:cNvPr id="476" name="Google Shape;476;p22"/>
          <p:cNvSpPr/>
          <p:nvPr/>
        </p:nvSpPr>
        <p:spPr>
          <a:xfrm>
            <a:off x="1371600" y="3573780"/>
            <a:ext cx="4389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mbria"/>
              <a:buNone/>
            </a:pPr>
            <a:r>
              <a:rPr b="1" i="0" lang="en-US" sz="1350" u="none" cap="none" strike="noStrike">
                <a:solidFill>
                  <a:srgbClr val="0B2E4F"/>
                </a:solidFill>
                <a:latin typeface="Cambria"/>
                <a:ea typeface="Cambria"/>
                <a:cs typeface="Cambria"/>
                <a:sym typeface="Cambria"/>
              </a:rPr>
              <a:t>Automated Machine Learning (AutoML)</a:t>
            </a:r>
            <a:endParaRPr b="0" i="0" sz="1350" u="none" cap="none" strike="noStrike">
              <a:solidFill>
                <a:schemeClr val="dk1"/>
              </a:solidFill>
              <a:latin typeface="Calibri"/>
              <a:ea typeface="Calibri"/>
              <a:cs typeface="Calibri"/>
              <a:sym typeface="Calibri"/>
            </a:endParaRPr>
          </a:p>
        </p:txBody>
      </p:sp>
      <p:sp>
        <p:nvSpPr>
          <p:cNvPr id="477" name="Google Shape;477;p22"/>
          <p:cNvSpPr/>
          <p:nvPr/>
        </p:nvSpPr>
        <p:spPr>
          <a:xfrm>
            <a:off x="777250" y="3945388"/>
            <a:ext cx="4983600" cy="7293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Automatically explore preprocessing, feature engineering, and model selection.</a:t>
            </a:r>
            <a:endParaRPr b="0" i="0" sz="1150" u="none" cap="none" strike="noStrike">
              <a:solidFill>
                <a:schemeClr val="dk1"/>
              </a:solidFill>
              <a:latin typeface="Calibri"/>
              <a:ea typeface="Calibri"/>
              <a:cs typeface="Calibri"/>
              <a:sym typeface="Calibri"/>
            </a:endParaRPr>
          </a:p>
        </p:txBody>
      </p:sp>
      <p:sp>
        <p:nvSpPr>
          <p:cNvPr id="478" name="Google Shape;478;p22"/>
          <p:cNvSpPr/>
          <p:nvPr/>
        </p:nvSpPr>
        <p:spPr>
          <a:xfrm>
            <a:off x="6217920" y="3067050"/>
            <a:ext cx="5440800" cy="21030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6446520" y="3562350"/>
            <a:ext cx="411600" cy="41160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2"/>
          <p:cNvSpPr/>
          <p:nvPr/>
        </p:nvSpPr>
        <p:spPr>
          <a:xfrm>
            <a:off x="6446520" y="3619500"/>
            <a:ext cx="4116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4</a:t>
            </a:r>
            <a:endParaRPr b="0" i="0" sz="1350" u="none" cap="none" strike="noStrike">
              <a:solidFill>
                <a:schemeClr val="dk1"/>
              </a:solidFill>
              <a:latin typeface="Calibri"/>
              <a:ea typeface="Calibri"/>
              <a:cs typeface="Calibri"/>
              <a:sym typeface="Calibri"/>
            </a:endParaRPr>
          </a:p>
        </p:txBody>
      </p:sp>
      <p:sp>
        <p:nvSpPr>
          <p:cNvPr id="481" name="Google Shape;481;p22"/>
          <p:cNvSpPr/>
          <p:nvPr/>
        </p:nvSpPr>
        <p:spPr>
          <a:xfrm>
            <a:off x="7040880" y="3554730"/>
            <a:ext cx="4389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mbria"/>
              <a:buNone/>
            </a:pPr>
            <a:r>
              <a:rPr b="1" i="0" lang="en-US" sz="1350" u="none" cap="none" strike="noStrike">
                <a:solidFill>
                  <a:srgbClr val="0B2E4F"/>
                </a:solidFill>
                <a:latin typeface="Cambria"/>
                <a:ea typeface="Cambria"/>
                <a:cs typeface="Cambria"/>
                <a:sym typeface="Cambria"/>
              </a:rPr>
              <a:t>Model Monitoring &amp; Maintenance</a:t>
            </a:r>
            <a:endParaRPr b="0" i="0" sz="1350" u="none" cap="none" strike="noStrike">
              <a:solidFill>
                <a:schemeClr val="dk1"/>
              </a:solidFill>
              <a:latin typeface="Calibri"/>
              <a:ea typeface="Calibri"/>
              <a:cs typeface="Calibri"/>
              <a:sym typeface="Calibri"/>
            </a:endParaRPr>
          </a:p>
        </p:txBody>
      </p:sp>
      <p:sp>
        <p:nvSpPr>
          <p:cNvPr id="482" name="Google Shape;482;p22"/>
          <p:cNvSpPr/>
          <p:nvPr/>
        </p:nvSpPr>
        <p:spPr>
          <a:xfrm>
            <a:off x="6446525" y="4011998"/>
            <a:ext cx="4983600" cy="7293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Track performance, detect data drift, and schedule model updates.</a:t>
            </a:r>
            <a:endParaRPr b="0" i="0" sz="1150" u="none" cap="none" strike="noStrike">
              <a:solidFill>
                <a:schemeClr val="dk1"/>
              </a:solidFill>
              <a:latin typeface="Calibri"/>
              <a:ea typeface="Calibri"/>
              <a:cs typeface="Calibri"/>
              <a:sym typeface="Calibri"/>
            </a:endParaRPr>
          </a:p>
        </p:txBody>
      </p:sp>
      <p:sp>
        <p:nvSpPr>
          <p:cNvPr id="483" name="Google Shape;483;p22"/>
          <p:cNvSpPr/>
          <p:nvPr/>
        </p:nvSpPr>
        <p:spPr>
          <a:xfrm>
            <a:off x="548640" y="5093970"/>
            <a:ext cx="5440800" cy="21030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777240" y="5494020"/>
            <a:ext cx="411600" cy="41160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777240" y="5494020"/>
            <a:ext cx="4116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5</a:t>
            </a:r>
            <a:endParaRPr b="0" i="0" sz="1350" u="none" cap="none" strike="noStrike">
              <a:solidFill>
                <a:schemeClr val="dk1"/>
              </a:solidFill>
              <a:latin typeface="Calibri"/>
              <a:ea typeface="Calibri"/>
              <a:cs typeface="Calibri"/>
              <a:sym typeface="Calibri"/>
            </a:endParaRPr>
          </a:p>
        </p:txBody>
      </p:sp>
      <p:sp>
        <p:nvSpPr>
          <p:cNvPr id="486" name="Google Shape;486;p22"/>
          <p:cNvSpPr/>
          <p:nvPr/>
        </p:nvSpPr>
        <p:spPr>
          <a:xfrm>
            <a:off x="1371600" y="5524500"/>
            <a:ext cx="4389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mbria"/>
              <a:buNone/>
            </a:pPr>
            <a:r>
              <a:rPr b="1" i="0" lang="en-US" sz="1350" u="none" cap="none" strike="noStrike">
                <a:solidFill>
                  <a:srgbClr val="0B2E4F"/>
                </a:solidFill>
                <a:latin typeface="Cambria"/>
                <a:ea typeface="Cambria"/>
                <a:cs typeface="Cambria"/>
                <a:sym typeface="Cambria"/>
              </a:rPr>
              <a:t>Real-Time Market Integration</a:t>
            </a:r>
            <a:endParaRPr b="0" i="0" sz="1350" u="none" cap="none" strike="noStrike">
              <a:solidFill>
                <a:schemeClr val="dk1"/>
              </a:solidFill>
              <a:latin typeface="Calibri"/>
              <a:ea typeface="Calibri"/>
              <a:cs typeface="Calibri"/>
              <a:sym typeface="Calibri"/>
            </a:endParaRPr>
          </a:p>
        </p:txBody>
      </p:sp>
      <p:sp>
        <p:nvSpPr>
          <p:cNvPr id="487" name="Google Shape;487;p22"/>
          <p:cNvSpPr/>
          <p:nvPr/>
        </p:nvSpPr>
        <p:spPr>
          <a:xfrm>
            <a:off x="777250" y="6147100"/>
            <a:ext cx="49836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Incorporate external housing market data to improve prediction accuracy.</a:t>
            </a:r>
            <a:endParaRPr b="0" i="0" sz="1150" u="none" cap="none" strike="noStrike">
              <a:solidFill>
                <a:schemeClr val="dk1"/>
              </a:solidFill>
              <a:latin typeface="Calibri"/>
              <a:ea typeface="Calibri"/>
              <a:cs typeface="Calibri"/>
              <a:sym typeface="Calibri"/>
            </a:endParaRPr>
          </a:p>
        </p:txBody>
      </p:sp>
      <p:sp>
        <p:nvSpPr>
          <p:cNvPr id="488" name="Google Shape;488;p22"/>
          <p:cNvSpPr/>
          <p:nvPr/>
        </p:nvSpPr>
        <p:spPr>
          <a:xfrm>
            <a:off x="6217920" y="5360670"/>
            <a:ext cx="5440800" cy="2103000"/>
          </a:xfrm>
          <a:prstGeom prst="rect">
            <a:avLst/>
          </a:prstGeom>
          <a:solidFill>
            <a:srgbClr val="F7F9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6446520" y="5551170"/>
            <a:ext cx="411600" cy="411600"/>
          </a:xfrm>
          <a:prstGeom prst="ellipse">
            <a:avLst/>
          </a:prstGeom>
          <a:solidFill>
            <a:srgbClr val="E887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2"/>
          <p:cNvSpPr/>
          <p:nvPr/>
        </p:nvSpPr>
        <p:spPr>
          <a:xfrm>
            <a:off x="6446520" y="5455920"/>
            <a:ext cx="4116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6</a:t>
            </a:r>
            <a:endParaRPr b="0" i="0" sz="1350" u="none" cap="none" strike="noStrike">
              <a:solidFill>
                <a:schemeClr val="dk1"/>
              </a:solidFill>
              <a:latin typeface="Calibri"/>
              <a:ea typeface="Calibri"/>
              <a:cs typeface="Calibri"/>
              <a:sym typeface="Calibri"/>
            </a:endParaRPr>
          </a:p>
        </p:txBody>
      </p:sp>
      <p:sp>
        <p:nvSpPr>
          <p:cNvPr id="491" name="Google Shape;491;p22"/>
          <p:cNvSpPr/>
          <p:nvPr/>
        </p:nvSpPr>
        <p:spPr>
          <a:xfrm>
            <a:off x="6964680" y="5543550"/>
            <a:ext cx="4389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2E4F"/>
              </a:buClr>
              <a:buSzPts val="1350"/>
              <a:buFont typeface="Cambria"/>
              <a:buNone/>
            </a:pPr>
            <a:r>
              <a:rPr b="1" i="0" lang="en-US" sz="1350" u="none" cap="none" strike="noStrike">
                <a:solidFill>
                  <a:srgbClr val="0B2E4F"/>
                </a:solidFill>
                <a:latin typeface="Cambria"/>
                <a:ea typeface="Cambria"/>
                <a:cs typeface="Cambria"/>
                <a:sym typeface="Cambria"/>
              </a:rPr>
              <a:t>MLOps Implementation</a:t>
            </a:r>
            <a:endParaRPr b="0" i="0" sz="1350" u="none" cap="none" strike="noStrike">
              <a:solidFill>
                <a:schemeClr val="dk1"/>
              </a:solidFill>
              <a:latin typeface="Calibri"/>
              <a:ea typeface="Calibri"/>
              <a:cs typeface="Calibri"/>
              <a:sym typeface="Calibri"/>
            </a:endParaRPr>
          </a:p>
        </p:txBody>
      </p:sp>
      <p:sp>
        <p:nvSpPr>
          <p:cNvPr id="492" name="Google Shape;492;p22"/>
          <p:cNvSpPr/>
          <p:nvPr/>
        </p:nvSpPr>
        <p:spPr>
          <a:xfrm>
            <a:off x="6446525" y="6051850"/>
            <a:ext cx="49836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A2430"/>
              </a:buClr>
              <a:buSzPts val="1150"/>
              <a:buFont typeface="Calibri"/>
              <a:buNone/>
            </a:pPr>
            <a:r>
              <a:rPr b="0" i="0" lang="en-US" sz="1150" u="none" cap="none" strike="noStrike">
                <a:solidFill>
                  <a:srgbClr val="1A2430"/>
                </a:solidFill>
                <a:latin typeface="Calibri"/>
                <a:ea typeface="Calibri"/>
                <a:cs typeface="Calibri"/>
                <a:sym typeface="Calibri"/>
              </a:rPr>
              <a:t>Automated training, testing, version control, model registry, continuous deployment.</a:t>
            </a:r>
            <a:endParaRPr b="0" i="0" sz="1150" u="none" cap="none" strike="noStrike">
              <a:solidFill>
                <a:schemeClr val="dk1"/>
              </a:solidFill>
              <a:latin typeface="Calibri"/>
              <a:ea typeface="Calibri"/>
              <a:cs typeface="Calibri"/>
              <a:sym typeface="Calibri"/>
            </a:endParaRPr>
          </a:p>
        </p:txBody>
      </p:sp>
      <p:sp>
        <p:nvSpPr>
          <p:cNvPr id="493" name="Google Shape;493;p22"/>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E4F"/>
        </a:solidFill>
      </p:bgPr>
    </p:bg>
    <p:spTree>
      <p:nvGrpSpPr>
        <p:cNvPr id="498" name="Shape 498"/>
        <p:cNvGrpSpPr/>
        <p:nvPr/>
      </p:nvGrpSpPr>
      <p:grpSpPr>
        <a:xfrm>
          <a:off x="0" y="0"/>
          <a:ext cx="0" cy="0"/>
          <a:chOff x="0" y="0"/>
          <a:chExt cx="0" cy="0"/>
        </a:xfrm>
      </p:grpSpPr>
      <p:sp>
        <p:nvSpPr>
          <p:cNvPr id="499" name="Google Shape;499;p23"/>
          <p:cNvSpPr/>
          <p:nvPr/>
        </p:nvSpPr>
        <p:spPr>
          <a:xfrm>
            <a:off x="8503920" y="-1097280"/>
            <a:ext cx="4114800" cy="4114800"/>
          </a:xfrm>
          <a:prstGeom prst="ellipse">
            <a:avLst/>
          </a:prstGeom>
          <a:solidFill>
            <a:srgbClr val="1C7293">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3"/>
          <p:cNvSpPr/>
          <p:nvPr/>
        </p:nvSpPr>
        <p:spPr>
          <a:xfrm>
            <a:off x="-1097280" y="4572000"/>
            <a:ext cx="3840480" cy="3840480"/>
          </a:xfrm>
          <a:prstGeom prst="ellipse">
            <a:avLst/>
          </a:prstGeom>
          <a:solidFill>
            <a:srgbClr val="E8871E">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3"/>
          <p:cNvSpPr/>
          <p:nvPr/>
        </p:nvSpPr>
        <p:spPr>
          <a:xfrm>
            <a:off x="0" y="2468880"/>
            <a:ext cx="12188952"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Thank You</a:t>
            </a:r>
            <a:endParaRPr b="0" i="0" sz="4000" u="none" cap="none" strike="noStrike">
              <a:solidFill>
                <a:schemeClr val="dk1"/>
              </a:solidFill>
              <a:latin typeface="Calibri"/>
              <a:ea typeface="Calibri"/>
              <a:cs typeface="Calibri"/>
              <a:sym typeface="Calibri"/>
            </a:endParaRPr>
          </a:p>
        </p:txBody>
      </p:sp>
      <p:sp>
        <p:nvSpPr>
          <p:cNvPr id="502" name="Google Shape;502;p23"/>
          <p:cNvSpPr/>
          <p:nvPr/>
        </p:nvSpPr>
        <p:spPr>
          <a:xfrm>
            <a:off x="0" y="3337560"/>
            <a:ext cx="12188952"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FE3EF"/>
              </a:buClr>
              <a:buSzPts val="1600"/>
              <a:buFont typeface="Calibri"/>
              <a:buNone/>
            </a:pPr>
            <a:r>
              <a:rPr b="0" i="0" lang="en-US" sz="1600" u="none" cap="none" strike="noStrike">
                <a:solidFill>
                  <a:srgbClr val="CFE3EF"/>
                </a:solidFill>
                <a:latin typeface="Calibri"/>
                <a:ea typeface="Calibri"/>
                <a:cs typeface="Calibri"/>
                <a:sym typeface="Calibri"/>
              </a:rPr>
              <a:t>House Price Prediction — Ames Housing Dataset</a:t>
            </a:r>
            <a:endParaRPr b="0" i="0" sz="1600" u="none" cap="none" strike="noStrike">
              <a:solidFill>
                <a:schemeClr val="dk1"/>
              </a:solidFill>
              <a:latin typeface="Calibri"/>
              <a:ea typeface="Calibri"/>
              <a:cs typeface="Calibri"/>
              <a:sym typeface="Calibri"/>
            </a:endParaRPr>
          </a:p>
        </p:txBody>
      </p:sp>
      <p:sp>
        <p:nvSpPr>
          <p:cNvPr id="503" name="Google Shape;503;p23"/>
          <p:cNvSpPr/>
          <p:nvPr/>
        </p:nvSpPr>
        <p:spPr>
          <a:xfrm>
            <a:off x="0" y="3794760"/>
            <a:ext cx="12188952"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871E"/>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504" name="Google Shape;504;p23"/>
          <p:cNvSpPr/>
          <p:nvPr/>
        </p:nvSpPr>
        <p:spPr>
          <a:xfrm>
            <a:off x="45720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House Price Prediction — Ames Housing Dataset</a:t>
            </a:r>
            <a:endParaRPr b="0" i="0" sz="900" u="none" cap="none" strike="noStrike">
              <a:solidFill>
                <a:schemeClr val="dk1"/>
              </a:solidFill>
              <a:latin typeface="Calibri"/>
              <a:ea typeface="Calibri"/>
              <a:cs typeface="Calibri"/>
              <a:sym typeface="Calibri"/>
            </a:endParaRPr>
          </a:p>
        </p:txBody>
      </p:sp>
      <p:sp>
        <p:nvSpPr>
          <p:cNvPr id="505" name="Google Shape;505;p23"/>
          <p:cNvSpPr/>
          <p:nvPr/>
        </p:nvSpPr>
        <p:spPr>
          <a:xfrm>
            <a:off x="11274552" y="6473952"/>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B6B79"/>
              </a:buClr>
              <a:buSzPts val="900"/>
              <a:buFont typeface="Calibri"/>
              <a:buNone/>
            </a:pPr>
            <a:r>
              <a:rPr b="0" i="0" lang="en-US" sz="900" u="none" cap="none" strike="noStrike">
                <a:solidFill>
                  <a:srgbClr val="5B6B79"/>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2026-08-02T17:49:00Z</dcterms:created>
  <dc:creator>PptxGenJS</dc:creator>
</cp:coreProperties>
</file>